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Alpha per trade</c:v>
                </c:pt>
              </c:strCache>
            </c:strRef>
          </c:tx>
          <c:spPr>
            <a:solidFill>
              <a:srgbClr val="2ED8A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Sheet1!$B$2:$B$13</c:f>
              <c:numCache>
                <c:formatCode>General</c:formatCode>
                <c:ptCount val="12"/>
                <c:pt idx="0">
                  <c:v>-2.46</c:v>
                </c:pt>
                <c:pt idx="1">
                  <c:v>-0.74</c:v>
                </c:pt>
                <c:pt idx="2">
                  <c:v>0.63</c:v>
                </c:pt>
                <c:pt idx="3">
                  <c:v>1.24</c:v>
                </c:pt>
                <c:pt idx="4">
                  <c:v>-0.68</c:v>
                </c:pt>
                <c:pt idx="5">
                  <c:v>1.12</c:v>
                </c:pt>
                <c:pt idx="6">
                  <c:v>-0.25</c:v>
                </c:pt>
                <c:pt idx="7">
                  <c:v>1.57</c:v>
                </c:pt>
                <c:pt idx="8">
                  <c:v>1.23</c:v>
                </c:pt>
                <c:pt idx="9">
                  <c:v>1.68</c:v>
                </c:pt>
                <c:pt idx="10">
                  <c:v>0.49</c:v>
                </c:pt>
                <c:pt idx="11">
                  <c:v>1.28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4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finLM is a governance layer for financial agents. Everyone is shipping agents that can move money. Nobody is shipping the layer that makes them safe to deploy and auditable afterwards. We built that layer and put a market-analysis agent inside it, scored against real NSE closing prices. Be first to say this: the decisions are paper decisions. No order was ever placed, because the mandate file authorising one was never written - the gate refused every time. That is the design demonstrating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agent safety today is theatre. This is the reference LLM trading server in India, and its safety mechanism is a boolean the model sets itself. The pattern repeats everywhere: guardrails in prompts rather than in code the model can't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a risk officer, a regulator, or an incident review will ask. Today's financial agents cannot answer any of them. That is the real blocker to deploying agents in a regulated institution - not model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principle drives the whole design. The LLM gets the judgment work it is genuinely good at. It never gets authority. Capability and authority are separated in code, not in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primitives. Mandate enforcement that fails closed. A kill switch a human can pull without the agent's cooperation. An audit trail capturing reasoning at decision time. And automated scoring against ground truth. Plus pre-deployment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sits between any MCP-capable LLM and the system of record. Nothing reaches the system of record without passing the kill switch, the mandate, the caps, and being journaled first. Afterwards the scorer grades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just describe a governance layer. We built one and put a market-analysis agent inside it. Pre-deployment validation showed the intuitive strategy loses in every configuration, and validated the counterintuitive one. The top paper decision returned 10.31 percent against a falling market. Say the disclosure out loud before anyone asks: these are paper decisions scored against real closing prices. No order was ever placed, because the mandate file authorising one was never written - the gate refused every time. That is the thesis demonstrating itself, not a missing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The agent recorded a hypothesis, acted on it, and the scorer proved it wrong three days later. Be first to say the sample size out loud: five decisions over one week, nowhere near statistically valid. The claim is not that the finding is conclusive - it is that the loop surfaced it automatically, dated and reviewable, without a human going looking. Then land the escalation: the same discipline caught a backtest number that would not reproduce (fixed with a provenance layer), and finally caught a regime hypothesis we had pre-registered - prediction interval and falsification region written down BEFORE the data was computed, and the observation landed outside it. The third one is the punchline: anyone can explain a result after the fact; almost nobody sets up a test they can lose. Artifacts for all three are in artifacts/ and cited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primitives are domain-agnostic. A dispute agent, a benefit activation agent, a servicing agent - each needs the same four things. Only the action schema and the outcome scorer change per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concept. Thirteen tools are live and verified, the guardrails are tested and fail closed, and the journal is already scoring live decisions. For the prototype round we add a second domain adapter, a reviewer console, and structured evidence tagging.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for financial agents is not capability, it is trust. finLM makes authority enforceable, reasoning auditable, and judgment measurable.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C2E52"/>
          </a:solidFill>
          <a:ln/>
        </p:spPr>
      </p:sp>
      <p:sp>
        <p:nvSpPr>
          <p:cNvPr id="3" name="Shape 1"/>
          <p:cNvSpPr/>
          <p:nvPr/>
        </p:nvSpPr>
        <p:spPr>
          <a:xfrm>
            <a:off x="9966960" y="3566160"/>
            <a:ext cx="3108960" cy="3108960"/>
          </a:xfrm>
          <a:prstGeom prst="ellipse">
            <a:avLst/>
          </a:prstGeom>
          <a:solidFill>
            <a:srgbClr val="16274A"/>
          </a:solidFill>
          <a:ln/>
        </p:spPr>
      </p:sp>
      <p:sp>
        <p:nvSpPr>
          <p:cNvPr id="4" name="Text 2"/>
          <p:cNvSpPr/>
          <p:nvPr/>
        </p:nvSpPr>
        <p:spPr>
          <a:xfrm>
            <a:off x="640080" y="1051560"/>
            <a:ext cx="7772400" cy="274320"/>
          </a:xfrm>
          <a:prstGeom prst="rect">
            <a:avLst/>
          </a:prstGeom>
          <a:noFill/>
          <a:ln/>
        </p:spPr>
        <p:txBody>
          <a:bodyPr wrap="square" lIns="0" tIns="0" rIns="0" bIns="0" rtlCol="0" anchor="ctr"/>
          <a:lstStyle/>
          <a:p>
            <a:pPr indent="0" marL="0">
              <a:buNone/>
            </a:pPr>
            <a:r>
              <a:rPr lang="en-US" sz="1200" b="1" spc="200" kern="0" dirty="0">
                <a:solidFill>
                  <a:srgbClr val="2ED8A7"/>
                </a:solidFill>
                <a:latin typeface="Calibri" pitchFamily="34" charset="0"/>
                <a:ea typeface="Calibri" pitchFamily="34" charset="-122"/>
                <a:cs typeface="Calibri" pitchFamily="34" charset="-120"/>
              </a:rPr>
              <a:t>POINT-IN-TIME RESEARCH  ·  NSE  ·  2010-2026</a:t>
            </a:r>
            <a:endParaRPr lang="en-US" sz="1200" dirty="0"/>
          </a:p>
        </p:txBody>
      </p:sp>
      <p:sp>
        <p:nvSpPr>
          <p:cNvPr id="5" name="Text 3"/>
          <p:cNvSpPr/>
          <p:nvPr/>
        </p:nvSpPr>
        <p:spPr>
          <a:xfrm>
            <a:off x="640080" y="1463040"/>
            <a:ext cx="7772400" cy="1554480"/>
          </a:xfrm>
          <a:prstGeom prst="rect">
            <a:avLst/>
          </a:prstGeom>
          <a:noFill/>
          <a:ln/>
        </p:spPr>
        <p:txBody>
          <a:bodyPr wrap="square" lIns="0" tIns="0" rIns="0" bIns="0" rtlCol="0" anchor="ctr"/>
          <a:lstStyle/>
          <a:p>
            <a:pPr indent="0" marL="0">
              <a:buNone/>
            </a:pPr>
            <a:r>
              <a:rPr lang="en-US" sz="8400" b="1" dirty="0">
                <a:solidFill>
                  <a:srgbClr val="FFFFFF"/>
                </a:solidFill>
                <a:latin typeface="Cambria" pitchFamily="34" charset="0"/>
                <a:ea typeface="Cambria" pitchFamily="34" charset="-122"/>
                <a:cs typeface="Cambria" pitchFamily="34" charset="-120"/>
              </a:rPr>
              <a:t>finLM</a:t>
            </a:r>
            <a:endParaRPr lang="en-US" sz="8400" dirty="0"/>
          </a:p>
        </p:txBody>
      </p:sp>
      <p:sp>
        <p:nvSpPr>
          <p:cNvPr id="6" name="Text 4"/>
          <p:cNvSpPr/>
          <p:nvPr/>
        </p:nvSpPr>
        <p:spPr>
          <a:xfrm>
            <a:off x="640080" y="3063240"/>
            <a:ext cx="7863840" cy="548640"/>
          </a:xfrm>
          <a:prstGeom prst="rect">
            <a:avLst/>
          </a:prstGeom>
          <a:noFill/>
          <a:ln/>
        </p:spPr>
        <p:txBody>
          <a:bodyPr wrap="square" lIns="0" tIns="0" rIns="0" bIns="0" rtlCol="0" anchor="ctr"/>
          <a:lstStyle/>
          <a:p>
            <a:pPr indent="0" marL="0">
              <a:buNone/>
            </a:pPr>
            <a:r>
              <a:rPr lang="en-US" sz="2800" dirty="0">
                <a:solidFill>
                  <a:srgbClr val="AFC3E0"/>
                </a:solidFill>
                <a:latin typeface="Cambria" pitchFamily="34" charset="0"/>
                <a:ea typeface="Cambria" pitchFamily="34" charset="-122"/>
                <a:cs typeface="Cambria" pitchFamily="34" charset="-120"/>
              </a:rPr>
              <a:t>A governance layer for financial agents</a:t>
            </a:r>
            <a:endParaRPr lang="en-US" sz="2800" dirty="0"/>
          </a:p>
        </p:txBody>
      </p:sp>
      <p:sp>
        <p:nvSpPr>
          <p:cNvPr id="7" name="Text 5"/>
          <p:cNvSpPr/>
          <p:nvPr/>
        </p:nvSpPr>
        <p:spPr>
          <a:xfrm>
            <a:off x="640080" y="3794760"/>
            <a:ext cx="7863840" cy="914400"/>
          </a:xfrm>
          <a:prstGeom prst="rect">
            <a:avLst/>
          </a:prstGeom>
          <a:noFill/>
          <a:ln/>
        </p:spPr>
        <p:txBody>
          <a:bodyPr wrap="square" lIns="0" tIns="0" rIns="0" bIns="0" rtlCol="0" anchor="ctr"/>
          <a:lstStyle/>
          <a:p>
            <a:pPr indent="0" marL="0">
              <a:lnSpc>
                <a:spcPts val="2400"/>
              </a:lnSpc>
              <a:buNone/>
            </a:pPr>
            <a:r>
              <a:rPr lang="en-US" sz="1500" dirty="0">
                <a:solidFill>
                  <a:srgbClr val="AFC3E0"/>
                </a:solidFill>
                <a:latin typeface="Calibri" pitchFamily="34" charset="0"/>
                <a:ea typeface="Calibri" pitchFamily="34" charset="-122"/>
                <a:cs typeface="Calibri" pitchFamily="34" charset="-120"/>
              </a:rPr>
              <a:t>Enforced mandates · kill switch · reasoning audit trail · automated outcome scoring.</a:t>
            </a:r>
            <a:endParaRPr lang="en-US" sz="1500" dirty="0"/>
          </a:p>
          <a:p>
            <a:pPr indent="0" marL="0">
              <a:lnSpc>
                <a:spcPts val="2400"/>
              </a:lnSpc>
              <a:buNone/>
            </a:pPr>
            <a:r>
              <a:rPr lang="en-US" sz="1500" dirty="0">
                <a:solidFill>
                  <a:srgbClr val="AFC3E0"/>
                </a:solidFill>
                <a:latin typeface="Calibri" pitchFamily="34" charset="0"/>
                <a:ea typeface="Calibri" pitchFamily="34" charset="-122"/>
                <a:cs typeface="Calibri" pitchFamily="34" charset="-120"/>
              </a:rPr>
              <a:t>Scored against real NSE prices. Paper decisions only - no order was ever placed.</a:t>
            </a:r>
            <a:endParaRPr lang="en-US" sz="1500" dirty="0"/>
          </a:p>
        </p:txBody>
      </p:sp>
      <p:sp>
        <p:nvSpPr>
          <p:cNvPr id="8" name="Shape 6"/>
          <p:cNvSpPr/>
          <p:nvPr/>
        </p:nvSpPr>
        <p:spPr>
          <a:xfrm>
            <a:off x="640080" y="5074920"/>
            <a:ext cx="4846320" cy="566928"/>
          </a:xfrm>
          <a:prstGeom prst="roundRect">
            <a:avLst>
              <a:gd name="adj" fmla="val 50000"/>
            </a:avLst>
          </a:prstGeom>
          <a:solidFill>
            <a:srgbClr val="1C2E52"/>
          </a:solidFill>
          <a:ln/>
        </p:spPr>
      </p:sp>
      <p:sp>
        <p:nvSpPr>
          <p:cNvPr id="9" name="Text 7"/>
          <p:cNvSpPr/>
          <p:nvPr/>
        </p:nvSpPr>
        <p:spPr>
          <a:xfrm>
            <a:off x="640080" y="5074920"/>
            <a:ext cx="4846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 years of data  ·  120 tests  ·  0 orders placed</a:t>
            </a:r>
            <a:endParaRPr lang="en-US" sz="1300" dirty="0"/>
          </a:p>
        </p:txBody>
      </p:sp>
      <p:sp>
        <p:nvSpPr>
          <p:cNvPr id="10" name="Text 8"/>
          <p:cNvSpPr/>
          <p:nvPr/>
        </p:nvSpPr>
        <p:spPr>
          <a:xfrm>
            <a:off x="640080" y="5897880"/>
            <a:ext cx="5486400" cy="274320"/>
          </a:xfrm>
          <a:prstGeom prst="rect">
            <a:avLst/>
          </a:prstGeom>
          <a:noFill/>
          <a:ln/>
        </p:spPr>
        <p:txBody>
          <a:bodyPr wrap="square" lIns="0" tIns="0" rIns="0" bIns="0" rtlCol="0" anchor="ctr"/>
          <a:lstStyle/>
          <a:p>
            <a:pPr indent="0" marL="0">
              <a:buNone/>
            </a:pPr>
            <a:r>
              <a:rPr lang="en-US" sz="1200" dirty="0">
                <a:solidFill>
                  <a:srgbClr val="7E93B8"/>
                </a:solidFill>
                <a:latin typeface="Calibri" pitchFamily="34" charset="0"/>
                <a:ea typeface="Calibri" pitchFamily="34" charset="-122"/>
                <a:cs typeface="Calibri" pitchFamily="34" charset="-120"/>
              </a:rPr>
              <a:t>Hasil  ·  github.com/hasil7677/finLLM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Agent safety today is a flag the model sets on itself</a:t>
            </a:r>
            <a:endParaRPr lang="en-US" sz="3400" dirty="0"/>
          </a:p>
        </p:txBody>
      </p:sp>
      <p:sp>
        <p:nvSpPr>
          <p:cNvPr id="4" name="Shape 2"/>
          <p:cNvSpPr/>
          <p:nvPr/>
        </p:nvSpPr>
        <p:spPr>
          <a:xfrm>
            <a:off x="640080" y="1691640"/>
            <a:ext cx="5577840" cy="1920240"/>
          </a:xfrm>
          <a:prstGeom prst="roundRect">
            <a:avLst>
              <a:gd name="adj" fmla="val 5714"/>
            </a:avLst>
          </a:prstGeom>
          <a:solidFill>
            <a:srgbClr val="1C2E52"/>
          </a:solidFill>
          <a:ln/>
        </p:spPr>
      </p:sp>
      <p:sp>
        <p:nvSpPr>
          <p:cNvPr id="5" name="Text 3"/>
          <p:cNvSpPr/>
          <p:nvPr/>
        </p:nvSpPr>
        <p:spPr>
          <a:xfrm>
            <a:off x="960120" y="1874520"/>
            <a:ext cx="4937760" cy="274320"/>
          </a:xfrm>
          <a:prstGeom prst="rect">
            <a:avLst/>
          </a:prstGeom>
          <a:noFill/>
          <a:ln/>
        </p:spPr>
        <p:txBody>
          <a:bodyPr wrap="square" lIns="0" tIns="0" rIns="0" bIns="0" rtlCol="0" anchor="ctr"/>
          <a:lstStyle/>
          <a:p>
            <a:pPr indent="0" marL="0">
              <a:buNone/>
            </a:pPr>
            <a:r>
              <a:rPr lang="en-US" sz="1200" b="1" dirty="0">
                <a:solidFill>
                  <a:srgbClr val="AFC3E0"/>
                </a:solidFill>
                <a:latin typeface="Calibri" pitchFamily="34" charset="0"/>
                <a:ea typeface="Calibri" pitchFamily="34" charset="-122"/>
                <a:cs typeface="Calibri" pitchFamily="34" charset="-120"/>
              </a:rPr>
              <a:t>Zerodha's official LLM trading server</a:t>
            </a:r>
            <a:endParaRPr lang="en-US" sz="1200" dirty="0"/>
          </a:p>
        </p:txBody>
      </p:sp>
      <p:sp>
        <p:nvSpPr>
          <p:cNvPr id="6" name="Text 4"/>
          <p:cNvSpPr/>
          <p:nvPr/>
        </p:nvSpPr>
        <p:spPr>
          <a:xfrm>
            <a:off x="960120" y="2240280"/>
            <a:ext cx="4937760" cy="457200"/>
          </a:xfrm>
          <a:prstGeom prst="rect">
            <a:avLst/>
          </a:prstGeom>
          <a:noFill/>
          <a:ln/>
        </p:spPr>
        <p:txBody>
          <a:bodyPr wrap="square" lIns="0" tIns="0" rIns="0" bIns="0" rtlCol="0" anchor="ctr"/>
          <a:lstStyle/>
          <a:p>
            <a:pPr indent="0" marL="0">
              <a:buNone/>
            </a:pPr>
            <a:r>
              <a:rPr lang="en-US" sz="1900" b="1" dirty="0">
                <a:solidFill>
                  <a:srgbClr val="FF6B6B"/>
                </a:solidFill>
                <a:latin typeface="Courier New" pitchFamily="34" charset="0"/>
                <a:ea typeface="Courier New" pitchFamily="34" charset="-122"/>
                <a:cs typeface="Courier New" pitchFamily="34" charset="-120"/>
              </a:rPr>
              <a:t>place_order(  confirmed = true  )</a:t>
            </a:r>
            <a:endParaRPr lang="en-US" sz="1900" dirty="0"/>
          </a:p>
        </p:txBody>
      </p:sp>
      <p:sp>
        <p:nvSpPr>
          <p:cNvPr id="7" name="Text 5"/>
          <p:cNvSpPr/>
          <p:nvPr/>
        </p:nvSpPr>
        <p:spPr>
          <a:xfrm>
            <a:off x="960120" y="2788920"/>
            <a:ext cx="4937760" cy="731520"/>
          </a:xfrm>
          <a:prstGeom prst="rect">
            <a:avLst/>
          </a:prstGeom>
          <a:noFill/>
          <a:ln/>
        </p:spPr>
        <p:txBody>
          <a:bodyPr wrap="square" lIns="0" tIns="0" rIns="0" bIns="0" rtlCol="0" anchor="ctr"/>
          <a:lstStyle/>
          <a:p>
            <a:pPr indent="0" marL="0">
              <a:lnSpc>
                <a:spcPts val="1900"/>
              </a:lnSpc>
              <a:buNone/>
            </a:pPr>
            <a:r>
              <a:rPr lang="en-US" sz="1300" dirty="0">
                <a:solidFill>
                  <a:srgbClr val="AFC3E0"/>
                </a:solidFill>
                <a:latin typeface="Calibri" pitchFamily="34" charset="0"/>
                <a:ea typeface="Calibri" pitchFamily="34" charset="-122"/>
                <a:cs typeface="Calibri" pitchFamily="34" charset="-120"/>
              </a:rPr>
              <a:t>The reference implementation for LLM-driven trading in India gates real order placement behind a parameter the model passes to itself.</a:t>
            </a:r>
            <a:endParaRPr lang="en-US" sz="1300" dirty="0"/>
          </a:p>
        </p:txBody>
      </p:sp>
      <p:sp>
        <p:nvSpPr>
          <p:cNvPr id="8" name="Text 6"/>
          <p:cNvSpPr/>
          <p:nvPr/>
        </p:nvSpPr>
        <p:spPr>
          <a:xfrm>
            <a:off x="6720840" y="1828800"/>
            <a:ext cx="4846320" cy="1463040"/>
          </a:xfrm>
          <a:prstGeom prst="rect">
            <a:avLst/>
          </a:prstGeom>
          <a:noFill/>
          <a:ln/>
        </p:spPr>
        <p:txBody>
          <a:bodyPr wrap="square" lIns="0" tIns="0" rIns="0" bIns="0" rtlCol="0" anchor="ctr"/>
          <a:lstStyle/>
          <a:p>
            <a:pPr indent="0" marL="0">
              <a:lnSpc>
                <a:spcPts val="3400"/>
              </a:lnSpc>
              <a:buNone/>
            </a:pPr>
            <a:r>
              <a:rPr lang="en-US" sz="2500" b="1" dirty="0">
                <a:solidFill>
                  <a:srgbClr val="FFFFFF"/>
                </a:solidFill>
                <a:latin typeface="Cambria" pitchFamily="34" charset="0"/>
                <a:ea typeface="Cambria" pitchFamily="34" charset="-122"/>
                <a:cs typeface="Cambria" pitchFamily="34" charset="-120"/>
              </a:rPr>
              <a:t>That is not a control.</a:t>
            </a:r>
            <a:endParaRPr lang="en-US" sz="2500" dirty="0"/>
          </a:p>
          <a:p>
            <a:pPr indent="0" marL="0">
              <a:lnSpc>
                <a:spcPts val="3400"/>
              </a:lnSpc>
              <a:buNone/>
            </a:pPr>
            <a:r>
              <a:rPr lang="en-US" sz="2500" b="1" dirty="0">
                <a:solidFill>
                  <a:srgbClr val="FFFFFF"/>
                </a:solidFill>
                <a:latin typeface="Cambria" pitchFamily="34" charset="0"/>
                <a:ea typeface="Cambria" pitchFamily="34" charset="-122"/>
                <a:cs typeface="Cambria" pitchFamily="34" charset="-120"/>
              </a:rPr>
              <a:t>It is a suggestion the agent approves</a:t>
            </a:r>
            <a:endParaRPr lang="en-US" sz="2500" dirty="0"/>
          </a:p>
          <a:p>
            <a:pPr indent="0" marL="0">
              <a:lnSpc>
                <a:spcPts val="3400"/>
              </a:lnSpc>
              <a:buNone/>
            </a:pPr>
            <a:r>
              <a:rPr lang="en-US" sz="2500" b="1" dirty="0">
                <a:solidFill>
                  <a:srgbClr val="FFFFFF"/>
                </a:solidFill>
                <a:latin typeface="Cambria" pitchFamily="34" charset="0"/>
                <a:ea typeface="Cambria" pitchFamily="34" charset="-122"/>
                <a:cs typeface="Cambria" pitchFamily="34" charset="-120"/>
              </a:rPr>
              <a:t>on your behalf.</a:t>
            </a:r>
            <a:endParaRPr lang="en-US" sz="2500" dirty="0"/>
          </a:p>
        </p:txBody>
      </p:sp>
      <p:sp>
        <p:nvSpPr>
          <p:cNvPr id="9" name="Shape 7"/>
          <p:cNvSpPr/>
          <p:nvPr/>
        </p:nvSpPr>
        <p:spPr>
          <a:xfrm>
            <a:off x="640080" y="4032504"/>
            <a:ext cx="310896" cy="310896"/>
          </a:xfrm>
          <a:prstGeom prst="ellipse">
            <a:avLst/>
          </a:prstGeom>
          <a:solidFill>
            <a:srgbClr val="FF6B6B"/>
          </a:solidFill>
          <a:ln/>
        </p:spPr>
      </p:sp>
      <p:sp>
        <p:nvSpPr>
          <p:cNvPr id="10" name="Text 8"/>
          <p:cNvSpPr/>
          <p:nvPr/>
        </p:nvSpPr>
        <p:spPr>
          <a:xfrm>
            <a:off x="640080" y="4032504"/>
            <a:ext cx="310896" cy="310896"/>
          </a:xfrm>
          <a:prstGeom prst="rect">
            <a:avLst/>
          </a:prstGeom>
          <a:noFill/>
          <a:ln/>
        </p:spPr>
        <p:txBody>
          <a:bodyPr wrap="square" lIns="0" tIns="0" rIns="0" bIns="0" rtlCol="0" anchor="ctr"/>
          <a:lstStyle/>
          <a:p>
            <a:pPr algn="ctr" indent="0" marL="0">
              <a:buNone/>
            </a:pPr>
            <a:r>
              <a:rPr lang="en-US" sz="1700" b="1" dirty="0">
                <a:solidFill>
                  <a:srgbClr val="0E1B33"/>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1143000" y="3977640"/>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Guardrails live in prompts - </a:t>
            </a:r>
            <a:pPr indent="0" marL="0">
              <a:buNone/>
            </a:pPr>
            <a:r>
              <a:rPr lang="en-US" sz="1400" dirty="0">
                <a:solidFill>
                  <a:srgbClr val="AFC3E0"/>
                </a:solidFill>
                <a:latin typeface="Calibri" pitchFamily="34" charset="0"/>
                <a:ea typeface="Calibri" pitchFamily="34" charset="-122"/>
                <a:cs typeface="Calibri" pitchFamily="34" charset="-120"/>
              </a:rPr>
              <a:t>and prompts get ignored under pressure or adversarial input.</a:t>
            </a:r>
            <a:endParaRPr lang="en-US" sz="1400" dirty="0"/>
          </a:p>
        </p:txBody>
      </p:sp>
      <p:sp>
        <p:nvSpPr>
          <p:cNvPr id="12" name="Shape 10"/>
          <p:cNvSpPr/>
          <p:nvPr/>
        </p:nvSpPr>
        <p:spPr>
          <a:xfrm>
            <a:off x="640080" y="4782312"/>
            <a:ext cx="310896" cy="310896"/>
          </a:xfrm>
          <a:prstGeom prst="ellipse">
            <a:avLst/>
          </a:prstGeom>
          <a:solidFill>
            <a:srgbClr val="FF6B6B"/>
          </a:solidFill>
          <a:ln/>
        </p:spPr>
      </p:sp>
      <p:sp>
        <p:nvSpPr>
          <p:cNvPr id="13" name="Text 11"/>
          <p:cNvSpPr/>
          <p:nvPr/>
        </p:nvSpPr>
        <p:spPr>
          <a:xfrm>
            <a:off x="640080" y="4782312"/>
            <a:ext cx="310896" cy="310896"/>
          </a:xfrm>
          <a:prstGeom prst="rect">
            <a:avLst/>
          </a:prstGeom>
          <a:noFill/>
          <a:ln/>
        </p:spPr>
        <p:txBody>
          <a:bodyPr wrap="square" lIns="0" tIns="0" rIns="0" bIns="0" rtlCol="0" anchor="ctr"/>
          <a:lstStyle/>
          <a:p>
            <a:pPr algn="ctr" indent="0" marL="0">
              <a:buNone/>
            </a:pPr>
            <a:r>
              <a:rPr lang="en-US" sz="1700" b="1" dirty="0">
                <a:solidFill>
                  <a:srgbClr val="0E1B33"/>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143000" y="4727448"/>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record of intent - </a:t>
            </a:r>
            <a:pPr indent="0" marL="0">
              <a:buNone/>
            </a:pPr>
            <a:r>
              <a:rPr lang="en-US" sz="1400" dirty="0">
                <a:solidFill>
                  <a:srgbClr val="AFC3E0"/>
                </a:solidFill>
                <a:latin typeface="Calibri" pitchFamily="34" charset="0"/>
                <a:ea typeface="Calibri" pitchFamily="34" charset="-122"/>
                <a:cs typeface="Calibri" pitchFamily="34" charset="-120"/>
              </a:rPr>
              <a:t>agents leave chat logs, not decision records with reasoning.</a:t>
            </a:r>
            <a:endParaRPr lang="en-US" sz="1400" dirty="0"/>
          </a:p>
        </p:txBody>
      </p:sp>
      <p:sp>
        <p:nvSpPr>
          <p:cNvPr id="15" name="Shape 13"/>
          <p:cNvSpPr/>
          <p:nvPr/>
        </p:nvSpPr>
        <p:spPr>
          <a:xfrm>
            <a:off x="640080" y="5532120"/>
            <a:ext cx="310896" cy="310896"/>
          </a:xfrm>
          <a:prstGeom prst="ellipse">
            <a:avLst/>
          </a:prstGeom>
          <a:solidFill>
            <a:srgbClr val="FF6B6B"/>
          </a:solidFill>
          <a:ln/>
        </p:spPr>
      </p:sp>
      <p:sp>
        <p:nvSpPr>
          <p:cNvPr id="16" name="Text 14"/>
          <p:cNvSpPr/>
          <p:nvPr/>
        </p:nvSpPr>
        <p:spPr>
          <a:xfrm>
            <a:off x="640080" y="5532120"/>
            <a:ext cx="310896" cy="310896"/>
          </a:xfrm>
          <a:prstGeom prst="rect">
            <a:avLst/>
          </a:prstGeom>
          <a:noFill/>
          <a:ln/>
        </p:spPr>
        <p:txBody>
          <a:bodyPr wrap="square" lIns="0" tIns="0" rIns="0" bIns="0" rtlCol="0" anchor="ctr"/>
          <a:lstStyle/>
          <a:p>
            <a:pPr algn="ctr" indent="0" marL="0">
              <a:buNone/>
            </a:pPr>
            <a:r>
              <a:rPr lang="en-US" sz="1700" b="1" dirty="0">
                <a:solidFill>
                  <a:srgbClr val="0E1B33"/>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1143000" y="5477256"/>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measure of quality - </a:t>
            </a:r>
            <a:pPr indent="0" marL="0">
              <a:buNone/>
            </a:pPr>
            <a:r>
              <a:rPr lang="en-US" sz="1400" dirty="0">
                <a:solidFill>
                  <a:srgbClr val="AFC3E0"/>
                </a:solidFill>
                <a:latin typeface="Calibri" pitchFamily="34" charset="0"/>
                <a:ea typeface="Calibri" pitchFamily="34" charset="-122"/>
                <a:cs typeface="Calibri" pitchFamily="34" charset="-120"/>
              </a:rPr>
              <a:t>nobody scores whether the agent's judgment was actually right.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WHY IT MATTERS IN REGULATED FINANCE</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Three questions nobody can answer after an agent acts</a:t>
            </a:r>
            <a:endParaRPr lang="en-US" sz="3400" dirty="0"/>
          </a:p>
        </p:txBody>
      </p:sp>
      <p:sp>
        <p:nvSpPr>
          <p:cNvPr id="4" name="Shape 2"/>
          <p:cNvSpPr/>
          <p:nvPr/>
        </p:nvSpPr>
        <p:spPr>
          <a:xfrm>
            <a:off x="640080" y="1874520"/>
            <a:ext cx="3383280" cy="2743200"/>
          </a:xfrm>
          <a:prstGeom prst="roundRect">
            <a:avLst>
              <a:gd name="adj" fmla="val 4000"/>
            </a:avLst>
          </a:prstGeom>
          <a:solidFill>
            <a:srgbClr val="F1F5FA"/>
          </a:solidFill>
          <a:ln/>
        </p:spPr>
      </p:sp>
      <p:sp>
        <p:nvSpPr>
          <p:cNvPr id="5" name="Shape 3"/>
          <p:cNvSpPr/>
          <p:nvPr/>
        </p:nvSpPr>
        <p:spPr>
          <a:xfrm>
            <a:off x="960120" y="2194560"/>
            <a:ext cx="566928" cy="566928"/>
          </a:xfrm>
          <a:prstGeom prst="ellipse">
            <a:avLst/>
          </a:prstGeom>
          <a:solidFill>
            <a:srgbClr val="16223B"/>
          </a:solidFill>
          <a:ln/>
        </p:spPr>
      </p:sp>
      <p:sp>
        <p:nvSpPr>
          <p:cNvPr id="6" name="Text 4"/>
          <p:cNvSpPr/>
          <p:nvPr/>
        </p:nvSpPr>
        <p:spPr>
          <a:xfrm>
            <a:off x="960120" y="2194560"/>
            <a:ext cx="566928" cy="566928"/>
          </a:xfrm>
          <a:prstGeom prst="rect">
            <a:avLst/>
          </a:prstGeom>
          <a:noFill/>
          <a:ln/>
        </p:spPr>
        <p:txBody>
          <a:bodyPr wrap="square" lIns="0" tIns="0" rIns="0" bIns="0" rtlCol="0" anchor="ctr"/>
          <a:lstStyle/>
          <a:p>
            <a:pPr algn="ctr" indent="0" marL="0">
              <a:buNone/>
            </a:pPr>
            <a:r>
              <a:rPr lang="en-US" sz="2600" b="1" dirty="0">
                <a:solidFill>
                  <a:srgbClr val="2ED8A7"/>
                </a:solidFill>
                <a:latin typeface="Cambria" pitchFamily="34" charset="0"/>
                <a:ea typeface="Cambria" pitchFamily="34" charset="-122"/>
                <a:cs typeface="Cambria" pitchFamily="34" charset="-120"/>
              </a:rPr>
              <a:t>?</a:t>
            </a:r>
            <a:endParaRPr lang="en-US" sz="2600" dirty="0"/>
          </a:p>
        </p:txBody>
      </p:sp>
      <p:sp>
        <p:nvSpPr>
          <p:cNvPr id="7" name="Text 5"/>
          <p:cNvSpPr/>
          <p:nvPr/>
        </p:nvSpPr>
        <p:spPr>
          <a:xfrm>
            <a:off x="960120" y="2926080"/>
            <a:ext cx="2743200" cy="411480"/>
          </a:xfrm>
          <a:prstGeom prst="rect">
            <a:avLst/>
          </a:prstGeom>
          <a:noFill/>
          <a:ln/>
        </p:spPr>
        <p:txBody>
          <a:bodyPr wrap="square" lIns="0" tIns="0" rIns="0" bIns="0" rtlCol="0" anchor="ctr"/>
          <a:lstStyle/>
          <a:p>
            <a:pPr indent="0" marL="0">
              <a:buNone/>
            </a:pPr>
            <a:r>
              <a:rPr lang="en-US" sz="1900" b="1" dirty="0">
                <a:solidFill>
                  <a:srgbClr val="16223B"/>
                </a:solidFill>
                <a:latin typeface="Cambria" pitchFamily="34" charset="0"/>
                <a:ea typeface="Cambria" pitchFamily="34" charset="-122"/>
                <a:cs typeface="Cambria" pitchFamily="34" charset="-120"/>
              </a:rPr>
              <a:t>What did it decide?</a:t>
            </a:r>
            <a:endParaRPr lang="en-US" sz="1900" dirty="0"/>
          </a:p>
        </p:txBody>
      </p:sp>
      <p:sp>
        <p:nvSpPr>
          <p:cNvPr id="8" name="Text 6"/>
          <p:cNvSpPr/>
          <p:nvPr/>
        </p:nvSpPr>
        <p:spPr>
          <a:xfrm>
            <a:off x="960120" y="3401568"/>
            <a:ext cx="2743200" cy="1051560"/>
          </a:xfrm>
          <a:prstGeom prst="rect">
            <a:avLst/>
          </a:prstGeom>
          <a:noFill/>
          <a:ln/>
        </p:spPr>
        <p:txBody>
          <a:bodyPr wrap="square" lIns="0" tIns="0" rIns="0" bIns="0" rtlCol="0" anchor="ctr"/>
          <a:lstStyle/>
          <a:p>
            <a:pPr indent="0" marL="0">
              <a:lnSpc>
                <a:spcPts val="1900"/>
              </a:lnSpc>
              <a:buNone/>
            </a:pPr>
            <a:r>
              <a:rPr lang="en-US" sz="1300" dirty="0">
                <a:solidFill>
                  <a:srgbClr val="5A6B87"/>
                </a:solidFill>
                <a:latin typeface="Calibri" pitchFamily="34" charset="0"/>
                <a:ea typeface="Calibri" pitchFamily="34" charset="-122"/>
                <a:cs typeface="Calibri" pitchFamily="34" charset="-120"/>
              </a:rPr>
              <a:t>Actions are scattered across chat transcripts and API logs with no canonical record.</a:t>
            </a:r>
            <a:endParaRPr lang="en-US" sz="1300" dirty="0"/>
          </a:p>
        </p:txBody>
      </p:sp>
      <p:sp>
        <p:nvSpPr>
          <p:cNvPr id="9" name="Shape 7"/>
          <p:cNvSpPr/>
          <p:nvPr/>
        </p:nvSpPr>
        <p:spPr>
          <a:xfrm>
            <a:off x="4389120" y="1874520"/>
            <a:ext cx="3383280" cy="2743200"/>
          </a:xfrm>
          <a:prstGeom prst="roundRect">
            <a:avLst>
              <a:gd name="adj" fmla="val 4000"/>
            </a:avLst>
          </a:prstGeom>
          <a:solidFill>
            <a:srgbClr val="F1F5FA"/>
          </a:solidFill>
          <a:ln/>
        </p:spPr>
      </p:sp>
      <p:sp>
        <p:nvSpPr>
          <p:cNvPr id="10" name="Shape 8"/>
          <p:cNvSpPr/>
          <p:nvPr/>
        </p:nvSpPr>
        <p:spPr>
          <a:xfrm>
            <a:off x="4709160" y="2194560"/>
            <a:ext cx="566928" cy="566928"/>
          </a:xfrm>
          <a:prstGeom prst="ellipse">
            <a:avLst/>
          </a:prstGeom>
          <a:solidFill>
            <a:srgbClr val="16223B"/>
          </a:solidFill>
          <a:ln/>
        </p:spPr>
      </p:sp>
      <p:sp>
        <p:nvSpPr>
          <p:cNvPr id="11" name="Text 9"/>
          <p:cNvSpPr/>
          <p:nvPr/>
        </p:nvSpPr>
        <p:spPr>
          <a:xfrm>
            <a:off x="4709160" y="2194560"/>
            <a:ext cx="566928" cy="566928"/>
          </a:xfrm>
          <a:prstGeom prst="rect">
            <a:avLst/>
          </a:prstGeom>
          <a:noFill/>
          <a:ln/>
        </p:spPr>
        <p:txBody>
          <a:bodyPr wrap="square" lIns="0" tIns="0" rIns="0" bIns="0" rtlCol="0" anchor="ctr"/>
          <a:lstStyle/>
          <a:p>
            <a:pPr algn="ctr" indent="0" marL="0">
              <a:buNone/>
            </a:pPr>
            <a:r>
              <a:rPr lang="en-US" sz="2600" b="1" dirty="0">
                <a:solidFill>
                  <a:srgbClr val="2ED8A7"/>
                </a:solidFill>
                <a:latin typeface="Cambria" pitchFamily="34" charset="0"/>
                <a:ea typeface="Cambria" pitchFamily="34" charset="-122"/>
                <a:cs typeface="Cambria" pitchFamily="34" charset="-120"/>
              </a:rPr>
              <a:t>?</a:t>
            </a:r>
            <a:endParaRPr lang="en-US" sz="2600" dirty="0"/>
          </a:p>
        </p:txBody>
      </p:sp>
      <p:sp>
        <p:nvSpPr>
          <p:cNvPr id="12" name="Text 10"/>
          <p:cNvSpPr/>
          <p:nvPr/>
        </p:nvSpPr>
        <p:spPr>
          <a:xfrm>
            <a:off x="4709160" y="2926080"/>
            <a:ext cx="2743200" cy="411480"/>
          </a:xfrm>
          <a:prstGeom prst="rect">
            <a:avLst/>
          </a:prstGeom>
          <a:noFill/>
          <a:ln/>
        </p:spPr>
        <p:txBody>
          <a:bodyPr wrap="square" lIns="0" tIns="0" rIns="0" bIns="0" rtlCol="0" anchor="ctr"/>
          <a:lstStyle/>
          <a:p>
            <a:pPr indent="0" marL="0">
              <a:buNone/>
            </a:pPr>
            <a:r>
              <a:rPr lang="en-US" sz="1900" b="1" dirty="0">
                <a:solidFill>
                  <a:srgbClr val="16223B"/>
                </a:solidFill>
                <a:latin typeface="Cambria" pitchFamily="34" charset="0"/>
                <a:ea typeface="Cambria" pitchFamily="34" charset="-122"/>
                <a:cs typeface="Cambria" pitchFamily="34" charset="-120"/>
              </a:rPr>
              <a:t>Why did it think so?</a:t>
            </a:r>
            <a:endParaRPr lang="en-US" sz="1900" dirty="0"/>
          </a:p>
        </p:txBody>
      </p:sp>
      <p:sp>
        <p:nvSpPr>
          <p:cNvPr id="13" name="Text 11"/>
          <p:cNvSpPr/>
          <p:nvPr/>
        </p:nvSpPr>
        <p:spPr>
          <a:xfrm>
            <a:off x="4709160" y="3401568"/>
            <a:ext cx="2743200" cy="1051560"/>
          </a:xfrm>
          <a:prstGeom prst="rect">
            <a:avLst/>
          </a:prstGeom>
          <a:noFill/>
          <a:ln/>
        </p:spPr>
        <p:txBody>
          <a:bodyPr wrap="square" lIns="0" tIns="0" rIns="0" bIns="0" rtlCol="0" anchor="ctr"/>
          <a:lstStyle/>
          <a:p>
            <a:pPr indent="0" marL="0">
              <a:lnSpc>
                <a:spcPts val="1900"/>
              </a:lnSpc>
              <a:buNone/>
            </a:pPr>
            <a:r>
              <a:rPr lang="en-US" sz="1300" dirty="0">
                <a:solidFill>
                  <a:srgbClr val="5A6B87"/>
                </a:solidFill>
                <a:latin typeface="Calibri" pitchFamily="34" charset="0"/>
                <a:ea typeface="Calibri" pitchFamily="34" charset="-122"/>
                <a:cs typeface="Calibri" pitchFamily="34" charset="-120"/>
              </a:rPr>
              <a:t>Reasoning is reconstructed after the fact, if it survives at all - not captured at decision time.</a:t>
            </a:r>
            <a:endParaRPr lang="en-US" sz="1300" dirty="0"/>
          </a:p>
        </p:txBody>
      </p:sp>
      <p:sp>
        <p:nvSpPr>
          <p:cNvPr id="14" name="Shape 12"/>
          <p:cNvSpPr/>
          <p:nvPr/>
        </p:nvSpPr>
        <p:spPr>
          <a:xfrm>
            <a:off x="8138160" y="1874520"/>
            <a:ext cx="3383280" cy="2743200"/>
          </a:xfrm>
          <a:prstGeom prst="roundRect">
            <a:avLst>
              <a:gd name="adj" fmla="val 4000"/>
            </a:avLst>
          </a:prstGeom>
          <a:solidFill>
            <a:srgbClr val="F1F5FA"/>
          </a:solidFill>
          <a:ln/>
        </p:spPr>
      </p:sp>
      <p:sp>
        <p:nvSpPr>
          <p:cNvPr id="15" name="Shape 13"/>
          <p:cNvSpPr/>
          <p:nvPr/>
        </p:nvSpPr>
        <p:spPr>
          <a:xfrm>
            <a:off x="8458200" y="2194560"/>
            <a:ext cx="566928" cy="566928"/>
          </a:xfrm>
          <a:prstGeom prst="ellipse">
            <a:avLst/>
          </a:prstGeom>
          <a:solidFill>
            <a:srgbClr val="16223B"/>
          </a:solidFill>
          <a:ln/>
        </p:spPr>
      </p:sp>
      <p:sp>
        <p:nvSpPr>
          <p:cNvPr id="16" name="Text 14"/>
          <p:cNvSpPr/>
          <p:nvPr/>
        </p:nvSpPr>
        <p:spPr>
          <a:xfrm>
            <a:off x="8458200" y="2194560"/>
            <a:ext cx="566928" cy="566928"/>
          </a:xfrm>
          <a:prstGeom prst="rect">
            <a:avLst/>
          </a:prstGeom>
          <a:noFill/>
          <a:ln/>
        </p:spPr>
        <p:txBody>
          <a:bodyPr wrap="square" lIns="0" tIns="0" rIns="0" bIns="0" rtlCol="0" anchor="ctr"/>
          <a:lstStyle/>
          <a:p>
            <a:pPr algn="ctr" indent="0" marL="0">
              <a:buNone/>
            </a:pPr>
            <a:r>
              <a:rPr lang="en-US" sz="2600" b="1" dirty="0">
                <a:solidFill>
                  <a:srgbClr val="2ED8A7"/>
                </a:solidFill>
                <a:latin typeface="Cambria" pitchFamily="34" charset="0"/>
                <a:ea typeface="Cambria" pitchFamily="34" charset="-122"/>
                <a:cs typeface="Cambria" pitchFamily="34" charset="-120"/>
              </a:rPr>
              <a:t>?</a:t>
            </a:r>
            <a:endParaRPr lang="en-US" sz="2600" dirty="0"/>
          </a:p>
        </p:txBody>
      </p:sp>
      <p:sp>
        <p:nvSpPr>
          <p:cNvPr id="17" name="Text 15"/>
          <p:cNvSpPr/>
          <p:nvPr/>
        </p:nvSpPr>
        <p:spPr>
          <a:xfrm>
            <a:off x="8458200" y="2926080"/>
            <a:ext cx="2743200" cy="411480"/>
          </a:xfrm>
          <a:prstGeom prst="rect">
            <a:avLst/>
          </a:prstGeom>
          <a:noFill/>
          <a:ln/>
        </p:spPr>
        <p:txBody>
          <a:bodyPr wrap="square" lIns="0" tIns="0" rIns="0" bIns="0" rtlCol="0" anchor="ctr"/>
          <a:lstStyle/>
          <a:p>
            <a:pPr indent="0" marL="0">
              <a:buNone/>
            </a:pPr>
            <a:r>
              <a:rPr lang="en-US" sz="1900" b="1" dirty="0">
                <a:solidFill>
                  <a:srgbClr val="16223B"/>
                </a:solidFill>
                <a:latin typeface="Cambria" pitchFamily="34" charset="0"/>
                <a:ea typeface="Cambria" pitchFamily="34" charset="-122"/>
                <a:cs typeface="Cambria" pitchFamily="34" charset="-120"/>
              </a:rPr>
              <a:t>Was it right?</a:t>
            </a:r>
            <a:endParaRPr lang="en-US" sz="1900" dirty="0"/>
          </a:p>
        </p:txBody>
      </p:sp>
      <p:sp>
        <p:nvSpPr>
          <p:cNvPr id="18" name="Text 16"/>
          <p:cNvSpPr/>
          <p:nvPr/>
        </p:nvSpPr>
        <p:spPr>
          <a:xfrm>
            <a:off x="8458200" y="3401568"/>
            <a:ext cx="2743200" cy="1051560"/>
          </a:xfrm>
          <a:prstGeom prst="rect">
            <a:avLst/>
          </a:prstGeom>
          <a:noFill/>
          <a:ln/>
        </p:spPr>
        <p:txBody>
          <a:bodyPr wrap="square" lIns="0" tIns="0" rIns="0" bIns="0" rtlCol="0" anchor="ctr"/>
          <a:lstStyle/>
          <a:p>
            <a:pPr indent="0" marL="0">
              <a:lnSpc>
                <a:spcPts val="1900"/>
              </a:lnSpc>
              <a:buNone/>
            </a:pPr>
            <a:r>
              <a:rPr lang="en-US" sz="1300" dirty="0">
                <a:solidFill>
                  <a:srgbClr val="5A6B87"/>
                </a:solidFill>
                <a:latin typeface="Calibri" pitchFamily="34" charset="0"/>
                <a:ea typeface="Calibri" pitchFamily="34" charset="-122"/>
                <a:cs typeface="Calibri" pitchFamily="34" charset="-120"/>
              </a:rPr>
              <a:t>No system grades an agent's judgment against what actually happened, so drift goes unnoticed.</a:t>
            </a:r>
            <a:endParaRPr lang="en-US" sz="1300" dirty="0"/>
          </a:p>
        </p:txBody>
      </p:sp>
      <p:sp>
        <p:nvSpPr>
          <p:cNvPr id="19" name="Text 17"/>
          <p:cNvSpPr/>
          <p:nvPr/>
        </p:nvSpPr>
        <p:spPr>
          <a:xfrm>
            <a:off x="640080" y="5029200"/>
            <a:ext cx="10911535" cy="548640"/>
          </a:xfrm>
          <a:prstGeom prst="rect">
            <a:avLst/>
          </a:prstGeom>
          <a:noFill/>
          <a:ln/>
        </p:spPr>
        <p:txBody>
          <a:bodyPr wrap="square" lIns="0" tIns="0" rIns="0" bIns="0" rtlCol="0" anchor="ctr"/>
          <a:lstStyle/>
          <a:p>
            <a:pPr indent="0" marL="0">
              <a:buNone/>
            </a:pPr>
            <a:r>
              <a:rPr lang="en-US" sz="1900" i="1" dirty="0">
                <a:solidFill>
                  <a:srgbClr val="16223B"/>
                </a:solidFill>
                <a:latin typeface="Cambria" pitchFamily="34" charset="0"/>
                <a:ea typeface="Cambria" pitchFamily="34" charset="-122"/>
                <a:cs typeface="Cambria" pitchFamily="34" charset="-120"/>
              </a:rPr>
              <a:t>In a regulated institution, an agent that cannot be audited cannot be deployed - no matter how good it is.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IDEA</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The LLM advises. Code decides. Reality grades.</a:t>
            </a:r>
            <a:endParaRPr lang="en-US" sz="3400" dirty="0"/>
          </a:p>
        </p:txBody>
      </p:sp>
      <p:sp>
        <p:nvSpPr>
          <p:cNvPr id="4" name="Shape 2"/>
          <p:cNvSpPr/>
          <p:nvPr/>
        </p:nvSpPr>
        <p:spPr>
          <a:xfrm>
            <a:off x="640080" y="1920240"/>
            <a:ext cx="5303520" cy="3017520"/>
          </a:xfrm>
          <a:prstGeom prst="roundRect">
            <a:avLst>
              <a:gd name="adj" fmla="val 3636"/>
            </a:avLst>
          </a:prstGeom>
          <a:solidFill>
            <a:srgbClr val="F1F5FA"/>
          </a:solidFill>
          <a:ln/>
        </p:spPr>
      </p:sp>
      <p:sp>
        <p:nvSpPr>
          <p:cNvPr id="5" name="Text 3"/>
          <p:cNvSpPr/>
          <p:nvPr/>
        </p:nvSpPr>
        <p:spPr>
          <a:xfrm>
            <a:off x="1005840" y="2194560"/>
            <a:ext cx="4572000" cy="274320"/>
          </a:xfrm>
          <a:prstGeom prst="rect">
            <a:avLst/>
          </a:prstGeom>
          <a:noFill/>
          <a:ln/>
        </p:spPr>
        <p:txBody>
          <a:bodyPr wrap="square" lIns="0" tIns="0" rIns="0" bIns="0" rtlCol="0" anchor="ctr"/>
          <a:lstStyle/>
          <a:p>
            <a:pPr indent="0" marL="0">
              <a:buNone/>
            </a:pPr>
            <a:r>
              <a:rPr lang="en-US" sz="1200" b="1" spc="200" kern="0" dirty="0">
                <a:solidFill>
                  <a:srgbClr val="5A6B87"/>
                </a:solidFill>
                <a:latin typeface="Calibri" pitchFamily="34" charset="0"/>
                <a:ea typeface="Calibri" pitchFamily="34" charset="-122"/>
                <a:cs typeface="Calibri" pitchFamily="34" charset="-120"/>
              </a:rPr>
              <a:t>GIVE THE LLM</a:t>
            </a:r>
            <a:endParaRPr lang="en-US" sz="1200" dirty="0"/>
          </a:p>
        </p:txBody>
      </p:sp>
      <p:sp>
        <p:nvSpPr>
          <p:cNvPr id="6" name="Text 4"/>
          <p:cNvSpPr/>
          <p:nvPr/>
        </p:nvSpPr>
        <p:spPr>
          <a:xfrm>
            <a:off x="1005840" y="2514600"/>
            <a:ext cx="4572000" cy="411480"/>
          </a:xfrm>
          <a:prstGeom prst="rect">
            <a:avLst/>
          </a:prstGeom>
          <a:noFill/>
          <a:ln/>
        </p:spPr>
        <p:txBody>
          <a:bodyPr wrap="square" lIns="0" tIns="0" rIns="0" bIns="0" rtlCol="0" anchor="ctr"/>
          <a:lstStyle/>
          <a:p>
            <a:pPr indent="0" marL="0">
              <a:buNone/>
            </a:pPr>
            <a:r>
              <a:rPr lang="en-US" sz="2200" b="1" dirty="0">
                <a:solidFill>
                  <a:srgbClr val="16223B"/>
                </a:solidFill>
                <a:latin typeface="Cambria" pitchFamily="34" charset="0"/>
                <a:ea typeface="Cambria" pitchFamily="34" charset="-122"/>
                <a:cs typeface="Cambria" pitchFamily="34" charset="-120"/>
              </a:rPr>
              <a:t>Judgment work</a:t>
            </a:r>
            <a:endParaRPr lang="en-US" sz="2200" dirty="0"/>
          </a:p>
        </p:txBody>
      </p:sp>
      <p:sp>
        <p:nvSpPr>
          <p:cNvPr id="7" name="Text 5"/>
          <p:cNvSpPr/>
          <p:nvPr/>
        </p:nvSpPr>
        <p:spPr>
          <a:xfrm>
            <a:off x="1005840" y="3063240"/>
            <a:ext cx="4572000" cy="457200"/>
          </a:xfrm>
          <a:prstGeom prst="rect">
            <a:avLst/>
          </a:prstGeom>
          <a:noFill/>
          <a:ln/>
        </p:spPr>
        <p:txBody>
          <a:bodyPr wrap="square" lIns="0" tIns="0" rIns="0" bIns="0" rtlCol="0" anchor="ctr"/>
          <a:lstStyle/>
          <a:p>
            <a:pPr marL="342900" indent="-342900">
              <a:buSzPct val="100000"/>
              <a:buChar char="•"/>
            </a:pPr>
            <a:r>
              <a:rPr lang="en-US" sz="1400" dirty="0">
                <a:solidFill>
                  <a:srgbClr val="16223B"/>
                </a:solidFill>
                <a:latin typeface="Calibri" pitchFamily="34" charset="0"/>
                <a:ea typeface="Calibri" pitchFamily="34" charset="-122"/>
                <a:cs typeface="Calibri" pitchFamily="34" charset="-120"/>
              </a:rPr>
              <a:t>Interpreting unstructured evidence and context</a:t>
            </a:r>
            <a:endParaRPr lang="en-US" sz="1400" dirty="0"/>
          </a:p>
        </p:txBody>
      </p:sp>
      <p:sp>
        <p:nvSpPr>
          <p:cNvPr id="8" name="Text 6"/>
          <p:cNvSpPr/>
          <p:nvPr/>
        </p:nvSpPr>
        <p:spPr>
          <a:xfrm>
            <a:off x="1005840" y="3611880"/>
            <a:ext cx="4572000" cy="457200"/>
          </a:xfrm>
          <a:prstGeom prst="rect">
            <a:avLst/>
          </a:prstGeom>
          <a:noFill/>
          <a:ln/>
        </p:spPr>
        <p:txBody>
          <a:bodyPr wrap="square" lIns="0" tIns="0" rIns="0" bIns="0" rtlCol="0" anchor="ctr"/>
          <a:lstStyle/>
          <a:p>
            <a:pPr marL="342900" indent="-342900">
              <a:buSzPct val="100000"/>
              <a:buChar char="•"/>
            </a:pPr>
            <a:r>
              <a:rPr lang="en-US" sz="1400" dirty="0">
                <a:solidFill>
                  <a:srgbClr val="16223B"/>
                </a:solidFill>
                <a:latin typeface="Calibri" pitchFamily="34" charset="0"/>
                <a:ea typeface="Calibri" pitchFamily="34" charset="-122"/>
                <a:cs typeface="Calibri" pitchFamily="34" charset="-120"/>
              </a:rPr>
              <a:t>Explaining why a situation looks the way it does</a:t>
            </a:r>
            <a:endParaRPr lang="en-US" sz="1400" dirty="0"/>
          </a:p>
        </p:txBody>
      </p:sp>
      <p:sp>
        <p:nvSpPr>
          <p:cNvPr id="9" name="Text 7"/>
          <p:cNvSpPr/>
          <p:nvPr/>
        </p:nvSpPr>
        <p:spPr>
          <a:xfrm>
            <a:off x="1005840" y="4160520"/>
            <a:ext cx="4572000" cy="457200"/>
          </a:xfrm>
          <a:prstGeom prst="rect">
            <a:avLst/>
          </a:prstGeom>
          <a:noFill/>
          <a:ln/>
        </p:spPr>
        <p:txBody>
          <a:bodyPr wrap="square" lIns="0" tIns="0" rIns="0" bIns="0" rtlCol="0" anchor="ctr"/>
          <a:lstStyle/>
          <a:p>
            <a:pPr marL="342900" indent="-342900">
              <a:buSzPct val="100000"/>
              <a:buChar char="•"/>
            </a:pPr>
            <a:r>
              <a:rPr lang="en-US" sz="1400" dirty="0">
                <a:solidFill>
                  <a:srgbClr val="16223B"/>
                </a:solidFill>
                <a:latin typeface="Calibri" pitchFamily="34" charset="0"/>
                <a:ea typeface="Calibri" pitchFamily="34" charset="-122"/>
                <a:cs typeface="Calibri" pitchFamily="34" charset="-120"/>
              </a:rPr>
              <a:t>Drafting a recommended action with its rationale</a:t>
            </a:r>
            <a:endParaRPr lang="en-US" sz="1400" dirty="0"/>
          </a:p>
        </p:txBody>
      </p:sp>
      <p:sp>
        <p:nvSpPr>
          <p:cNvPr id="10" name="Shape 8"/>
          <p:cNvSpPr/>
          <p:nvPr/>
        </p:nvSpPr>
        <p:spPr>
          <a:xfrm>
            <a:off x="6355080" y="1920240"/>
            <a:ext cx="5212080" cy="3017520"/>
          </a:xfrm>
          <a:prstGeom prst="roundRect">
            <a:avLst>
              <a:gd name="adj" fmla="val 3636"/>
            </a:avLst>
          </a:prstGeom>
          <a:solidFill>
            <a:srgbClr val="16223B"/>
          </a:solidFill>
          <a:ln/>
        </p:spPr>
      </p:sp>
      <p:sp>
        <p:nvSpPr>
          <p:cNvPr id="11" name="Text 9"/>
          <p:cNvSpPr/>
          <p:nvPr/>
        </p:nvSpPr>
        <p:spPr>
          <a:xfrm>
            <a:off x="6720840" y="2194560"/>
            <a:ext cx="4480560" cy="274320"/>
          </a:xfrm>
          <a:prstGeom prst="rect">
            <a:avLst/>
          </a:prstGeom>
          <a:noFill/>
          <a:ln/>
        </p:spPr>
        <p:txBody>
          <a:bodyPr wrap="square" lIns="0" tIns="0" rIns="0" bIns="0" rtlCol="0" anchor="ctr"/>
          <a:lstStyle/>
          <a:p>
            <a:pPr indent="0" marL="0">
              <a:buNone/>
            </a:pPr>
            <a:r>
              <a:rPr lang="en-US" sz="1200" b="1" spc="200" kern="0" dirty="0">
                <a:solidFill>
                  <a:srgbClr val="2ED8A7"/>
                </a:solidFill>
                <a:latin typeface="Calibri" pitchFamily="34" charset="0"/>
                <a:ea typeface="Calibri" pitchFamily="34" charset="-122"/>
                <a:cs typeface="Calibri" pitchFamily="34" charset="-120"/>
              </a:rPr>
              <a:t>NEVER LET IT TOUCH</a:t>
            </a:r>
            <a:endParaRPr lang="en-US" sz="1200" dirty="0"/>
          </a:p>
        </p:txBody>
      </p:sp>
      <p:sp>
        <p:nvSpPr>
          <p:cNvPr id="12" name="Text 10"/>
          <p:cNvSpPr/>
          <p:nvPr/>
        </p:nvSpPr>
        <p:spPr>
          <a:xfrm>
            <a:off x="6720840" y="2514600"/>
            <a:ext cx="448056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Authority</a:t>
            </a:r>
            <a:endParaRPr lang="en-US" sz="2200" dirty="0"/>
          </a:p>
        </p:txBody>
      </p:sp>
      <p:sp>
        <p:nvSpPr>
          <p:cNvPr id="13" name="Text 11"/>
          <p:cNvSpPr/>
          <p:nvPr/>
        </p:nvSpPr>
        <p:spPr>
          <a:xfrm>
            <a:off x="6720840" y="3063240"/>
            <a:ext cx="4480560" cy="457200"/>
          </a:xfrm>
          <a:prstGeom prst="rect">
            <a:avLst/>
          </a:prstGeom>
          <a:noFill/>
          <a:ln/>
        </p:spPr>
        <p:txBody>
          <a:bodyPr wrap="square" lIns="0" tIns="0" rIns="0" bIns="0" rtlCol="0" anchor="ctr"/>
          <a:lstStyle/>
          <a:p>
            <a:pPr marL="342900" indent="-342900">
              <a:buSzPct val="100000"/>
              <a:buChar char="•"/>
            </a:pPr>
            <a:r>
              <a:rPr lang="en-US" sz="1400" dirty="0">
                <a:solidFill>
                  <a:srgbClr val="AFC3E0"/>
                </a:solidFill>
                <a:latin typeface="Calibri" pitchFamily="34" charset="0"/>
                <a:ea typeface="Calibri" pitchFamily="34" charset="-122"/>
                <a:cs typeface="Calibri" pitchFamily="34" charset="-120"/>
              </a:rPr>
              <a:t>Whether an action is permitted at all</a:t>
            </a:r>
            <a:endParaRPr lang="en-US" sz="1400" dirty="0"/>
          </a:p>
        </p:txBody>
      </p:sp>
      <p:sp>
        <p:nvSpPr>
          <p:cNvPr id="14" name="Text 12"/>
          <p:cNvSpPr/>
          <p:nvPr/>
        </p:nvSpPr>
        <p:spPr>
          <a:xfrm>
            <a:off x="6720840" y="3611880"/>
            <a:ext cx="4480560" cy="457200"/>
          </a:xfrm>
          <a:prstGeom prst="rect">
            <a:avLst/>
          </a:prstGeom>
          <a:noFill/>
          <a:ln/>
        </p:spPr>
        <p:txBody>
          <a:bodyPr wrap="square" lIns="0" tIns="0" rIns="0" bIns="0" rtlCol="0" anchor="ctr"/>
          <a:lstStyle/>
          <a:p>
            <a:pPr marL="342900" indent="-342900">
              <a:buSzPct val="100000"/>
              <a:buChar char="•"/>
            </a:pPr>
            <a:r>
              <a:rPr lang="en-US" sz="1400" dirty="0">
                <a:solidFill>
                  <a:srgbClr val="AFC3E0"/>
                </a:solidFill>
                <a:latin typeface="Calibri" pitchFamily="34" charset="0"/>
                <a:ea typeface="Calibri" pitchFamily="34" charset="-122"/>
                <a:cs typeface="Calibri" pitchFamily="34" charset="-120"/>
              </a:rPr>
              <a:t>The limits on value, volume and frequency</a:t>
            </a:r>
            <a:endParaRPr lang="en-US" sz="1400" dirty="0"/>
          </a:p>
        </p:txBody>
      </p:sp>
      <p:sp>
        <p:nvSpPr>
          <p:cNvPr id="15" name="Text 13"/>
          <p:cNvSpPr/>
          <p:nvPr/>
        </p:nvSpPr>
        <p:spPr>
          <a:xfrm>
            <a:off x="6720840" y="4160520"/>
            <a:ext cx="4480560" cy="457200"/>
          </a:xfrm>
          <a:prstGeom prst="rect">
            <a:avLst/>
          </a:prstGeom>
          <a:noFill/>
          <a:ln/>
        </p:spPr>
        <p:txBody>
          <a:bodyPr wrap="square" lIns="0" tIns="0" rIns="0" bIns="0" rtlCol="0" anchor="ctr"/>
          <a:lstStyle/>
          <a:p>
            <a:pPr marL="342900" indent="-342900">
              <a:buSzPct val="100000"/>
              <a:buChar char="•"/>
            </a:pPr>
            <a:r>
              <a:rPr lang="en-US" sz="1400" dirty="0">
                <a:solidFill>
                  <a:srgbClr val="AFC3E0"/>
                </a:solidFill>
                <a:latin typeface="Calibri" pitchFamily="34" charset="0"/>
                <a:ea typeface="Calibri" pitchFamily="34" charset="-122"/>
                <a:cs typeface="Calibri" pitchFamily="34" charset="-120"/>
              </a:rPr>
              <a:t>The record of what it decided and why</a:t>
            </a:r>
            <a:endParaRPr lang="en-US" sz="1400" dirty="0"/>
          </a:p>
        </p:txBody>
      </p:sp>
      <p:sp>
        <p:nvSpPr>
          <p:cNvPr id="16" name="Text 14"/>
          <p:cNvSpPr/>
          <p:nvPr/>
        </p:nvSpPr>
        <p:spPr>
          <a:xfrm>
            <a:off x="640080" y="5166360"/>
            <a:ext cx="10911535" cy="457200"/>
          </a:xfrm>
          <a:prstGeom prst="rect">
            <a:avLst/>
          </a:prstGeom>
          <a:noFill/>
          <a:ln/>
        </p:spPr>
        <p:txBody>
          <a:bodyPr wrap="square" lIns="0" tIns="0" rIns="0" bIns="0" rtlCol="0" anchor="ctr"/>
          <a:lstStyle/>
          <a:p>
            <a:pPr indent="0" marL="0">
              <a:buNone/>
            </a:pPr>
            <a:r>
              <a:rPr lang="en-US" sz="1400" dirty="0">
                <a:solidFill>
                  <a:srgbClr val="5A6B87"/>
                </a:solidFill>
                <a:latin typeface="Calibri" pitchFamily="34" charset="0"/>
                <a:ea typeface="Calibri" pitchFamily="34" charset="-122"/>
                <a:cs typeface="Calibri" pitchFamily="34" charset="-120"/>
              </a:rPr>
              <a:t>Capability and authority are separated by construction - the model can call the checks, never modify them.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Four governance primitives, enforced server-side</a:t>
            </a:r>
            <a:endParaRPr lang="en-US" sz="3400" dirty="0"/>
          </a:p>
        </p:txBody>
      </p:sp>
      <p:sp>
        <p:nvSpPr>
          <p:cNvPr id="4" name="Shape 2"/>
          <p:cNvSpPr/>
          <p:nvPr/>
        </p:nvSpPr>
        <p:spPr>
          <a:xfrm>
            <a:off x="640080" y="1783080"/>
            <a:ext cx="5257800" cy="1874520"/>
          </a:xfrm>
          <a:prstGeom prst="roundRect">
            <a:avLst>
              <a:gd name="adj" fmla="val 5854"/>
            </a:avLst>
          </a:prstGeom>
          <a:solidFill>
            <a:srgbClr val="F1F5FA"/>
          </a:solidFill>
          <a:ln/>
        </p:spPr>
      </p:sp>
      <p:sp>
        <p:nvSpPr>
          <p:cNvPr id="5" name="Shape 3"/>
          <p:cNvSpPr/>
          <p:nvPr/>
        </p:nvSpPr>
        <p:spPr>
          <a:xfrm>
            <a:off x="960120" y="2075688"/>
            <a:ext cx="548640" cy="548640"/>
          </a:xfrm>
          <a:prstGeom prst="ellipse">
            <a:avLst/>
          </a:prstGeom>
          <a:solidFill>
            <a:srgbClr val="2ED8A7"/>
          </a:solidFill>
          <a:ln/>
        </p:spPr>
      </p:sp>
      <p:sp>
        <p:nvSpPr>
          <p:cNvPr id="6" name="Text 4"/>
          <p:cNvSpPr/>
          <p:nvPr/>
        </p:nvSpPr>
        <p:spPr>
          <a:xfrm>
            <a:off x="960120" y="207568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691640" y="210312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Mandate enforcement</a:t>
            </a:r>
            <a:endParaRPr lang="en-US" sz="1800" dirty="0"/>
          </a:p>
        </p:txBody>
      </p:sp>
      <p:sp>
        <p:nvSpPr>
          <p:cNvPr id="8" name="Text 6"/>
          <p:cNvSpPr/>
          <p:nvPr/>
        </p:nvSpPr>
        <p:spPr>
          <a:xfrm>
            <a:off x="1691640" y="253288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Every consequential action is validated against a policy file the user writes outside the conversation - value caps, action limits, allowlists. Fails closed: no mandate, nothing executes.</a:t>
            </a:r>
            <a:endParaRPr lang="en-US" sz="1250" dirty="0"/>
          </a:p>
        </p:txBody>
      </p:sp>
      <p:sp>
        <p:nvSpPr>
          <p:cNvPr id="9" name="Shape 7"/>
          <p:cNvSpPr/>
          <p:nvPr/>
        </p:nvSpPr>
        <p:spPr>
          <a:xfrm>
            <a:off x="6263640" y="1783080"/>
            <a:ext cx="5257800" cy="1874520"/>
          </a:xfrm>
          <a:prstGeom prst="roundRect">
            <a:avLst>
              <a:gd name="adj" fmla="val 5854"/>
            </a:avLst>
          </a:prstGeom>
          <a:solidFill>
            <a:srgbClr val="F1F5FA"/>
          </a:solidFill>
          <a:ln/>
        </p:spPr>
      </p:sp>
      <p:sp>
        <p:nvSpPr>
          <p:cNvPr id="10" name="Shape 8"/>
          <p:cNvSpPr/>
          <p:nvPr/>
        </p:nvSpPr>
        <p:spPr>
          <a:xfrm>
            <a:off x="6583680" y="2075688"/>
            <a:ext cx="548640" cy="548640"/>
          </a:xfrm>
          <a:prstGeom prst="ellipse">
            <a:avLst/>
          </a:prstGeom>
          <a:solidFill>
            <a:srgbClr val="2ED8A7"/>
          </a:solidFill>
          <a:ln/>
        </p:spPr>
      </p:sp>
      <p:sp>
        <p:nvSpPr>
          <p:cNvPr id="11" name="Text 9"/>
          <p:cNvSpPr/>
          <p:nvPr/>
        </p:nvSpPr>
        <p:spPr>
          <a:xfrm>
            <a:off x="6583680" y="207568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7315200" y="210312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Kill switch</a:t>
            </a:r>
            <a:endParaRPr lang="en-US" sz="1800" dirty="0"/>
          </a:p>
        </p:txBody>
      </p:sp>
      <p:sp>
        <p:nvSpPr>
          <p:cNvPr id="13" name="Text 11"/>
          <p:cNvSpPr/>
          <p:nvPr/>
        </p:nvSpPr>
        <p:spPr>
          <a:xfrm>
            <a:off x="7315200" y="253288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A filesystem circuit breaker. Drop the file and every action is refused instantly - no restart, no config reload, no cooperation from the agent required.</a:t>
            </a:r>
            <a:endParaRPr lang="en-US" sz="1250" dirty="0"/>
          </a:p>
        </p:txBody>
      </p:sp>
      <p:sp>
        <p:nvSpPr>
          <p:cNvPr id="14" name="Shape 12"/>
          <p:cNvSpPr/>
          <p:nvPr/>
        </p:nvSpPr>
        <p:spPr>
          <a:xfrm>
            <a:off x="640080" y="3931920"/>
            <a:ext cx="5257800" cy="1874520"/>
          </a:xfrm>
          <a:prstGeom prst="roundRect">
            <a:avLst>
              <a:gd name="adj" fmla="val 5854"/>
            </a:avLst>
          </a:prstGeom>
          <a:solidFill>
            <a:srgbClr val="F1F5FA"/>
          </a:solidFill>
          <a:ln/>
        </p:spPr>
      </p:sp>
      <p:sp>
        <p:nvSpPr>
          <p:cNvPr id="15" name="Shape 13"/>
          <p:cNvSpPr/>
          <p:nvPr/>
        </p:nvSpPr>
        <p:spPr>
          <a:xfrm>
            <a:off x="960120" y="4224528"/>
            <a:ext cx="548640" cy="548640"/>
          </a:xfrm>
          <a:prstGeom prst="ellipse">
            <a:avLst/>
          </a:prstGeom>
          <a:solidFill>
            <a:srgbClr val="2ED8A7"/>
          </a:solidFill>
          <a:ln/>
        </p:spPr>
      </p:sp>
      <p:sp>
        <p:nvSpPr>
          <p:cNvPr id="16" name="Text 14"/>
          <p:cNvSpPr/>
          <p:nvPr/>
        </p:nvSpPr>
        <p:spPr>
          <a:xfrm>
            <a:off x="960120" y="422452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1691640" y="425196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Reasoning audit trail</a:t>
            </a:r>
            <a:endParaRPr lang="en-US" sz="1800" dirty="0"/>
          </a:p>
        </p:txBody>
      </p:sp>
      <p:sp>
        <p:nvSpPr>
          <p:cNvPr id="18" name="Text 16"/>
          <p:cNvSpPr/>
          <p:nvPr/>
        </p:nvSpPr>
        <p:spPr>
          <a:xfrm>
            <a:off x="1691640" y="468172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Every decision journaled the moment it is made, with the agent's full thesis captured verbatim - reviewable months later, not reconstructed.</a:t>
            </a:r>
            <a:endParaRPr lang="en-US" sz="1250" dirty="0"/>
          </a:p>
        </p:txBody>
      </p:sp>
      <p:sp>
        <p:nvSpPr>
          <p:cNvPr id="19" name="Shape 17"/>
          <p:cNvSpPr/>
          <p:nvPr/>
        </p:nvSpPr>
        <p:spPr>
          <a:xfrm>
            <a:off x="6263640" y="3931920"/>
            <a:ext cx="5257800" cy="1874520"/>
          </a:xfrm>
          <a:prstGeom prst="roundRect">
            <a:avLst>
              <a:gd name="adj" fmla="val 5854"/>
            </a:avLst>
          </a:prstGeom>
          <a:solidFill>
            <a:srgbClr val="F1F5FA"/>
          </a:solidFill>
          <a:ln/>
        </p:spPr>
      </p:sp>
      <p:sp>
        <p:nvSpPr>
          <p:cNvPr id="20" name="Shape 18"/>
          <p:cNvSpPr/>
          <p:nvPr/>
        </p:nvSpPr>
        <p:spPr>
          <a:xfrm>
            <a:off x="6583680" y="4224528"/>
            <a:ext cx="548640" cy="548640"/>
          </a:xfrm>
          <a:prstGeom prst="ellipse">
            <a:avLst/>
          </a:prstGeom>
          <a:solidFill>
            <a:srgbClr val="2ED8A7"/>
          </a:solidFill>
          <a:ln/>
        </p:spPr>
      </p:sp>
      <p:sp>
        <p:nvSpPr>
          <p:cNvPr id="21" name="Text 19"/>
          <p:cNvSpPr/>
          <p:nvPr/>
        </p:nvSpPr>
        <p:spPr>
          <a:xfrm>
            <a:off x="6583680" y="422452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4</a:t>
            </a:r>
            <a:endParaRPr lang="en-US" sz="2400" dirty="0"/>
          </a:p>
        </p:txBody>
      </p:sp>
      <p:sp>
        <p:nvSpPr>
          <p:cNvPr id="22" name="Text 20"/>
          <p:cNvSpPr/>
          <p:nvPr/>
        </p:nvSpPr>
        <p:spPr>
          <a:xfrm>
            <a:off x="7315200" y="425196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Automated outcome scoring</a:t>
            </a:r>
            <a:endParaRPr lang="en-US" sz="1800" dirty="0"/>
          </a:p>
        </p:txBody>
      </p:sp>
      <p:sp>
        <p:nvSpPr>
          <p:cNvPr id="23" name="Text 21"/>
          <p:cNvSpPr/>
          <p:nvPr/>
        </p:nvSpPr>
        <p:spPr>
          <a:xfrm>
            <a:off x="7315200" y="468172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The layer grades its own past decisions against ground truth and reports hit rates, so agent quality is measured rather than assumed.</a:t>
            </a:r>
            <a:endParaRPr lang="en-US" sz="1250" dirty="0"/>
          </a:p>
        </p:txBody>
      </p:sp>
      <p:sp>
        <p:nvSpPr>
          <p:cNvPr id="24" name="Text 22"/>
          <p:cNvSpPr/>
          <p:nvPr/>
        </p:nvSpPr>
        <p:spPr>
          <a:xfrm>
            <a:off x="640080" y="5943600"/>
            <a:ext cx="10911535" cy="411480"/>
          </a:xfrm>
          <a:prstGeom prst="rect">
            <a:avLst/>
          </a:prstGeom>
          <a:noFill/>
          <a:ln/>
        </p:spPr>
        <p:txBody>
          <a:bodyPr wrap="square" lIns="0" tIns="0" rIns="0" bIns="0" rtlCol="0" anchor="ctr"/>
          <a:lstStyle/>
          <a:p>
            <a:pPr indent="0" marL="0">
              <a:buNone/>
            </a:pPr>
            <a:r>
              <a:rPr lang="en-US" sz="1350" i="1" dirty="0">
                <a:solidFill>
                  <a:srgbClr val="16223B"/>
                </a:solidFill>
                <a:latin typeface="Calibri" pitchFamily="34" charset="0"/>
                <a:ea typeface="Calibri" pitchFamily="34" charset="-122"/>
                <a:cs typeface="Calibri" pitchFamily="34" charset="-120"/>
              </a:rPr>
              <a:t>Plus: a point-in-time simulator that validates an agent's decision policy on historical data before it ever reaches production.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One layer between any LLM and the system of record</a:t>
            </a:r>
            <a:endParaRPr lang="en-US" sz="3400" dirty="0"/>
          </a:p>
        </p:txBody>
      </p:sp>
      <p:sp>
        <p:nvSpPr>
          <p:cNvPr id="4" name="Shape 2"/>
          <p:cNvSpPr/>
          <p:nvPr/>
        </p:nvSpPr>
        <p:spPr>
          <a:xfrm>
            <a:off x="640080" y="1874520"/>
            <a:ext cx="3200400" cy="1371600"/>
          </a:xfrm>
          <a:prstGeom prst="roundRect">
            <a:avLst>
              <a:gd name="adj" fmla="val 8000"/>
            </a:avLst>
          </a:prstGeom>
          <a:solidFill>
            <a:srgbClr val="F1F5FA"/>
          </a:solidFill>
          <a:ln/>
        </p:spPr>
      </p:sp>
      <p:sp>
        <p:nvSpPr>
          <p:cNvPr id="5" name="Text 3"/>
          <p:cNvSpPr/>
          <p:nvPr/>
        </p:nvSpPr>
        <p:spPr>
          <a:xfrm>
            <a:off x="868680" y="2103120"/>
            <a:ext cx="2743200" cy="365760"/>
          </a:xfrm>
          <a:prstGeom prst="rect">
            <a:avLst/>
          </a:prstGeom>
          <a:noFill/>
          <a:ln/>
        </p:spPr>
        <p:txBody>
          <a:bodyPr wrap="square" lIns="0" tIns="0" rIns="0" bIns="0" rtlCol="0" anchor="ctr"/>
          <a:lstStyle/>
          <a:p>
            <a:pPr algn="ctr" indent="0" marL="0">
              <a:buNone/>
            </a:pPr>
            <a:r>
              <a:rPr lang="en-US" sz="1600" b="1" dirty="0">
                <a:solidFill>
                  <a:srgbClr val="16223B"/>
                </a:solidFill>
                <a:latin typeface="Cambria" pitchFamily="34" charset="0"/>
                <a:ea typeface="Cambria" pitchFamily="34" charset="-122"/>
                <a:cs typeface="Cambria" pitchFamily="34" charset="-120"/>
              </a:rPr>
              <a:t>Any LLM client</a:t>
            </a:r>
            <a:endParaRPr lang="en-US" sz="1600" dirty="0"/>
          </a:p>
        </p:txBody>
      </p:sp>
      <p:sp>
        <p:nvSpPr>
          <p:cNvPr id="6" name="Text 4"/>
          <p:cNvSpPr/>
          <p:nvPr/>
        </p:nvSpPr>
        <p:spPr>
          <a:xfrm>
            <a:off x="868680" y="2514600"/>
            <a:ext cx="2743200" cy="594360"/>
          </a:xfrm>
          <a:prstGeom prst="rect">
            <a:avLst/>
          </a:prstGeom>
          <a:noFill/>
          <a:ln/>
        </p:spPr>
        <p:txBody>
          <a:bodyPr wrap="square" lIns="0" tIns="0" rIns="0" bIns="0" rtlCol="0" anchor="ctr"/>
          <a:lstStyle/>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Any MCP client</a:t>
            </a:r>
            <a:endParaRPr lang="en-US" sz="1200" dirty="0"/>
          </a:p>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via Model Context Protocol</a:t>
            </a:r>
            <a:endParaRPr lang="en-US" sz="1200" dirty="0"/>
          </a:p>
        </p:txBody>
      </p:sp>
      <p:sp>
        <p:nvSpPr>
          <p:cNvPr id="7" name="Shape 5"/>
          <p:cNvSpPr/>
          <p:nvPr/>
        </p:nvSpPr>
        <p:spPr>
          <a:xfrm>
            <a:off x="4434840" y="1874520"/>
            <a:ext cx="3200400" cy="1371600"/>
          </a:xfrm>
          <a:prstGeom prst="roundRect">
            <a:avLst>
              <a:gd name="adj" fmla="val 8000"/>
            </a:avLst>
          </a:prstGeom>
          <a:solidFill>
            <a:srgbClr val="16223B"/>
          </a:solidFill>
          <a:ln/>
        </p:spPr>
      </p:sp>
      <p:sp>
        <p:nvSpPr>
          <p:cNvPr id="8" name="Text 6"/>
          <p:cNvSpPr/>
          <p:nvPr/>
        </p:nvSpPr>
        <p:spPr>
          <a:xfrm>
            <a:off x="4663440" y="210312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finLM governance layer</a:t>
            </a:r>
            <a:endParaRPr lang="en-US" sz="1600" dirty="0"/>
          </a:p>
        </p:txBody>
      </p:sp>
      <p:sp>
        <p:nvSpPr>
          <p:cNvPr id="9" name="Text 7"/>
          <p:cNvSpPr/>
          <p:nvPr/>
        </p:nvSpPr>
        <p:spPr>
          <a:xfrm>
            <a:off x="4663440" y="2514600"/>
            <a:ext cx="2743200" cy="594360"/>
          </a:xfrm>
          <a:prstGeom prst="rect">
            <a:avLst/>
          </a:prstGeom>
          <a:noFill/>
          <a:ln/>
        </p:spPr>
        <p:txBody>
          <a:bodyPr wrap="square" lIns="0" tIns="0" rIns="0" bIns="0" rtlCol="0" anchor="ctr"/>
          <a:lstStyle/>
          <a:p>
            <a:pPr algn="ctr" indent="0" marL="0">
              <a:lnSpc>
                <a:spcPts val="1600"/>
              </a:lnSpc>
              <a:buNone/>
            </a:pPr>
            <a:r>
              <a:rPr lang="en-US" sz="1200" dirty="0">
                <a:solidFill>
                  <a:srgbClr val="AFC3E0"/>
                </a:solidFill>
                <a:latin typeface="Calibri" pitchFamily="34" charset="0"/>
                <a:ea typeface="Calibri" pitchFamily="34" charset="-122"/>
                <a:cs typeface="Calibri" pitchFamily="34" charset="-120"/>
              </a:rPr>
              <a:t>13 MCP tools</a:t>
            </a:r>
            <a:endParaRPr lang="en-US" sz="1200" dirty="0"/>
          </a:p>
          <a:p>
            <a:pPr algn="ctr" indent="0" marL="0">
              <a:lnSpc>
                <a:spcPts val="1600"/>
              </a:lnSpc>
              <a:buNone/>
            </a:pPr>
            <a:r>
              <a:rPr lang="en-US" sz="1200" dirty="0">
                <a:solidFill>
                  <a:srgbClr val="AFC3E0"/>
                </a:solidFill>
                <a:latin typeface="Calibri" pitchFamily="34" charset="0"/>
                <a:ea typeface="Calibri" pitchFamily="34" charset="-122"/>
                <a:cs typeface="Calibri" pitchFamily="34" charset="-120"/>
              </a:rPr>
              <a:t>mandate gate · journal · scorer</a:t>
            </a:r>
            <a:endParaRPr lang="en-US" sz="1200" dirty="0"/>
          </a:p>
        </p:txBody>
      </p:sp>
      <p:sp>
        <p:nvSpPr>
          <p:cNvPr id="10" name="Shape 8"/>
          <p:cNvSpPr/>
          <p:nvPr/>
        </p:nvSpPr>
        <p:spPr>
          <a:xfrm>
            <a:off x="8366760" y="1874520"/>
            <a:ext cx="3200400" cy="1371600"/>
          </a:xfrm>
          <a:prstGeom prst="roundRect">
            <a:avLst>
              <a:gd name="adj" fmla="val 8000"/>
            </a:avLst>
          </a:prstGeom>
          <a:solidFill>
            <a:srgbClr val="F1F5FA"/>
          </a:solidFill>
          <a:ln/>
        </p:spPr>
      </p:sp>
      <p:sp>
        <p:nvSpPr>
          <p:cNvPr id="11" name="Text 9"/>
          <p:cNvSpPr/>
          <p:nvPr/>
        </p:nvSpPr>
        <p:spPr>
          <a:xfrm>
            <a:off x="8595360" y="2103120"/>
            <a:ext cx="2743200" cy="365760"/>
          </a:xfrm>
          <a:prstGeom prst="rect">
            <a:avLst/>
          </a:prstGeom>
          <a:noFill/>
          <a:ln/>
        </p:spPr>
        <p:txBody>
          <a:bodyPr wrap="square" lIns="0" tIns="0" rIns="0" bIns="0" rtlCol="0" anchor="ctr"/>
          <a:lstStyle/>
          <a:p>
            <a:pPr algn="ctr" indent="0" marL="0">
              <a:buNone/>
            </a:pPr>
            <a:r>
              <a:rPr lang="en-US" sz="1600" b="1" dirty="0">
                <a:solidFill>
                  <a:srgbClr val="16223B"/>
                </a:solidFill>
                <a:latin typeface="Cambria" pitchFamily="34" charset="0"/>
                <a:ea typeface="Cambria" pitchFamily="34" charset="-122"/>
                <a:cs typeface="Cambria" pitchFamily="34" charset="-120"/>
              </a:rPr>
              <a:t>System of record</a:t>
            </a:r>
            <a:endParaRPr lang="en-US" sz="1600" dirty="0"/>
          </a:p>
        </p:txBody>
      </p:sp>
      <p:sp>
        <p:nvSpPr>
          <p:cNvPr id="12" name="Text 10"/>
          <p:cNvSpPr/>
          <p:nvPr/>
        </p:nvSpPr>
        <p:spPr>
          <a:xfrm>
            <a:off x="8595360" y="2514600"/>
            <a:ext cx="2743200" cy="594360"/>
          </a:xfrm>
          <a:prstGeom prst="rect">
            <a:avLst/>
          </a:prstGeom>
          <a:noFill/>
          <a:ln/>
        </p:spPr>
        <p:txBody>
          <a:bodyPr wrap="square" lIns="0" tIns="0" rIns="0" bIns="0" rtlCol="0" anchor="ctr"/>
          <a:lstStyle/>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Brokerage, card platform,</a:t>
            </a:r>
            <a:endParaRPr lang="en-US" sz="1200" dirty="0"/>
          </a:p>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servicing system</a:t>
            </a:r>
            <a:endParaRPr lang="en-US" sz="1200" dirty="0"/>
          </a:p>
        </p:txBody>
      </p:sp>
      <p:sp>
        <p:nvSpPr>
          <p:cNvPr id="13" name="Shape 11"/>
          <p:cNvSpPr/>
          <p:nvPr/>
        </p:nvSpPr>
        <p:spPr>
          <a:xfrm>
            <a:off x="3931920" y="2450592"/>
            <a:ext cx="411480" cy="228600"/>
          </a:xfrm>
          <a:prstGeom prst="rightArrow">
            <a:avLst/>
          </a:prstGeom>
          <a:solidFill>
            <a:srgbClr val="5A6B87"/>
          </a:solidFill>
          <a:ln/>
        </p:spPr>
      </p:sp>
      <p:sp>
        <p:nvSpPr>
          <p:cNvPr id="14" name="Text 12"/>
          <p:cNvSpPr/>
          <p:nvPr/>
        </p:nvSpPr>
        <p:spPr>
          <a:xfrm>
            <a:off x="3794760" y="2697480"/>
            <a:ext cx="685800" cy="228600"/>
          </a:xfrm>
          <a:prstGeom prst="rect">
            <a:avLst/>
          </a:prstGeom>
          <a:noFill/>
          <a:ln/>
        </p:spPr>
        <p:txBody>
          <a:bodyPr wrap="square" lIns="0" tIns="0" rIns="0" bIns="0"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proposes</a:t>
            </a:r>
            <a:endParaRPr lang="en-US" sz="1000" dirty="0"/>
          </a:p>
        </p:txBody>
      </p:sp>
      <p:sp>
        <p:nvSpPr>
          <p:cNvPr id="15" name="Shape 13"/>
          <p:cNvSpPr/>
          <p:nvPr/>
        </p:nvSpPr>
        <p:spPr>
          <a:xfrm>
            <a:off x="7863840" y="2450592"/>
            <a:ext cx="411480" cy="228600"/>
          </a:xfrm>
          <a:prstGeom prst="rightArrow">
            <a:avLst/>
          </a:prstGeom>
          <a:solidFill>
            <a:srgbClr val="5A6B87"/>
          </a:solidFill>
          <a:ln/>
        </p:spPr>
      </p:sp>
      <p:sp>
        <p:nvSpPr>
          <p:cNvPr id="16" name="Text 14"/>
          <p:cNvSpPr/>
          <p:nvPr/>
        </p:nvSpPr>
        <p:spPr>
          <a:xfrm>
            <a:off x="7726680" y="2697480"/>
            <a:ext cx="685800" cy="228600"/>
          </a:xfrm>
          <a:prstGeom prst="rect">
            <a:avLst/>
          </a:prstGeom>
          <a:noFill/>
          <a:ln/>
        </p:spPr>
        <p:txBody>
          <a:bodyPr wrap="square" lIns="0" tIns="0" rIns="0" bIns="0"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executes</a:t>
            </a:r>
            <a:endParaRPr lang="en-US" sz="1000" dirty="0"/>
          </a:p>
        </p:txBody>
      </p:sp>
      <p:sp>
        <p:nvSpPr>
          <p:cNvPr id="17" name="Text 15"/>
          <p:cNvSpPr/>
          <p:nvPr/>
        </p:nvSpPr>
        <p:spPr>
          <a:xfrm>
            <a:off x="640080" y="3611880"/>
            <a:ext cx="5486400" cy="320040"/>
          </a:xfrm>
          <a:prstGeom prst="rect">
            <a:avLst/>
          </a:prstGeom>
          <a:noFill/>
          <a:ln/>
        </p:spPr>
        <p:txBody>
          <a:bodyPr wrap="square" lIns="0" tIns="0" rIns="0" bIns="0" rtlCol="0" anchor="ctr"/>
          <a:lstStyle/>
          <a:p>
            <a:pPr indent="0" marL="0">
              <a:buNone/>
            </a:pPr>
            <a:r>
              <a:rPr lang="en-US" sz="1300" b="1" dirty="0">
                <a:solidFill>
                  <a:srgbClr val="16223B"/>
                </a:solidFill>
                <a:latin typeface="Calibri" pitchFamily="34" charset="0"/>
                <a:ea typeface="Calibri" pitchFamily="34" charset="-122"/>
                <a:cs typeface="Calibri" pitchFamily="34" charset="-120"/>
              </a:rPr>
              <a:t>Every proposed action passes through:</a:t>
            </a:r>
            <a:endParaRPr lang="en-US" sz="1300" dirty="0"/>
          </a:p>
        </p:txBody>
      </p:sp>
      <p:sp>
        <p:nvSpPr>
          <p:cNvPr id="18" name="Shape 16"/>
          <p:cNvSpPr/>
          <p:nvPr/>
        </p:nvSpPr>
        <p:spPr>
          <a:xfrm>
            <a:off x="640080" y="4023360"/>
            <a:ext cx="2560320" cy="914400"/>
          </a:xfrm>
          <a:prstGeom prst="roundRect">
            <a:avLst>
              <a:gd name="adj" fmla="val 10000"/>
            </a:avLst>
          </a:prstGeom>
          <a:solidFill>
            <a:srgbClr val="F1F5FA"/>
          </a:solidFill>
          <a:ln/>
        </p:spPr>
      </p:sp>
      <p:sp>
        <p:nvSpPr>
          <p:cNvPr id="19" name="Shape 17"/>
          <p:cNvSpPr/>
          <p:nvPr/>
        </p:nvSpPr>
        <p:spPr>
          <a:xfrm>
            <a:off x="868680" y="4315968"/>
            <a:ext cx="310896" cy="310896"/>
          </a:xfrm>
          <a:prstGeom prst="ellipse">
            <a:avLst/>
          </a:prstGeom>
          <a:solidFill>
            <a:srgbClr val="FF6B6B"/>
          </a:solidFill>
          <a:ln/>
        </p:spPr>
      </p:sp>
      <p:sp>
        <p:nvSpPr>
          <p:cNvPr id="20" name="Text 18"/>
          <p:cNvSpPr/>
          <p:nvPr/>
        </p:nvSpPr>
        <p:spPr>
          <a:xfrm>
            <a:off x="128016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Kill switch active?</a:t>
            </a:r>
            <a:endParaRPr lang="en-US" sz="1250" dirty="0"/>
          </a:p>
        </p:txBody>
      </p:sp>
      <p:sp>
        <p:nvSpPr>
          <p:cNvPr id="21" name="Text 19"/>
          <p:cNvSpPr/>
          <p:nvPr/>
        </p:nvSpPr>
        <p:spPr>
          <a:xfrm>
            <a:off x="128016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refuse instantly</a:t>
            </a:r>
            <a:endParaRPr lang="en-US" sz="1100" dirty="0"/>
          </a:p>
        </p:txBody>
      </p:sp>
      <p:sp>
        <p:nvSpPr>
          <p:cNvPr id="22" name="Shape 20"/>
          <p:cNvSpPr/>
          <p:nvPr/>
        </p:nvSpPr>
        <p:spPr>
          <a:xfrm>
            <a:off x="3429000" y="4023360"/>
            <a:ext cx="2560320" cy="914400"/>
          </a:xfrm>
          <a:prstGeom prst="roundRect">
            <a:avLst>
              <a:gd name="adj" fmla="val 10000"/>
            </a:avLst>
          </a:prstGeom>
          <a:solidFill>
            <a:srgbClr val="F1F5FA"/>
          </a:solidFill>
          <a:ln/>
        </p:spPr>
      </p:sp>
      <p:sp>
        <p:nvSpPr>
          <p:cNvPr id="23" name="Shape 21"/>
          <p:cNvSpPr/>
          <p:nvPr/>
        </p:nvSpPr>
        <p:spPr>
          <a:xfrm>
            <a:off x="3657600" y="4315968"/>
            <a:ext cx="310896" cy="310896"/>
          </a:xfrm>
          <a:prstGeom prst="ellipse">
            <a:avLst/>
          </a:prstGeom>
          <a:solidFill>
            <a:srgbClr val="FF6B6B"/>
          </a:solidFill>
          <a:ln/>
        </p:spPr>
      </p:sp>
      <p:sp>
        <p:nvSpPr>
          <p:cNvPr id="24" name="Text 22"/>
          <p:cNvSpPr/>
          <p:nvPr/>
        </p:nvSpPr>
        <p:spPr>
          <a:xfrm>
            <a:off x="406908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Mandate on file?</a:t>
            </a:r>
            <a:endParaRPr lang="en-US" sz="1250" dirty="0"/>
          </a:p>
        </p:txBody>
      </p:sp>
      <p:sp>
        <p:nvSpPr>
          <p:cNvPr id="25" name="Text 23"/>
          <p:cNvSpPr/>
          <p:nvPr/>
        </p:nvSpPr>
        <p:spPr>
          <a:xfrm>
            <a:off x="406908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no policy, no action</a:t>
            </a:r>
            <a:endParaRPr lang="en-US" sz="1100" dirty="0"/>
          </a:p>
        </p:txBody>
      </p:sp>
      <p:sp>
        <p:nvSpPr>
          <p:cNvPr id="26" name="Shape 24"/>
          <p:cNvSpPr/>
          <p:nvPr/>
        </p:nvSpPr>
        <p:spPr>
          <a:xfrm>
            <a:off x="6217920" y="4023360"/>
            <a:ext cx="2560320" cy="914400"/>
          </a:xfrm>
          <a:prstGeom prst="roundRect">
            <a:avLst>
              <a:gd name="adj" fmla="val 10000"/>
            </a:avLst>
          </a:prstGeom>
          <a:solidFill>
            <a:srgbClr val="F1F5FA"/>
          </a:solidFill>
          <a:ln/>
        </p:spPr>
      </p:sp>
      <p:sp>
        <p:nvSpPr>
          <p:cNvPr id="27" name="Shape 25"/>
          <p:cNvSpPr/>
          <p:nvPr/>
        </p:nvSpPr>
        <p:spPr>
          <a:xfrm>
            <a:off x="6446520" y="4315968"/>
            <a:ext cx="310896" cy="310896"/>
          </a:xfrm>
          <a:prstGeom prst="ellipse">
            <a:avLst/>
          </a:prstGeom>
          <a:solidFill>
            <a:srgbClr val="2ED8A7"/>
          </a:solidFill>
          <a:ln/>
        </p:spPr>
      </p:sp>
      <p:sp>
        <p:nvSpPr>
          <p:cNvPr id="28" name="Text 26"/>
          <p:cNvSpPr/>
          <p:nvPr/>
        </p:nvSpPr>
        <p:spPr>
          <a:xfrm>
            <a:off x="685800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Within all caps?</a:t>
            </a:r>
            <a:endParaRPr lang="en-US" sz="1250" dirty="0"/>
          </a:p>
        </p:txBody>
      </p:sp>
      <p:sp>
        <p:nvSpPr>
          <p:cNvPr id="29" name="Text 27"/>
          <p:cNvSpPr/>
          <p:nvPr/>
        </p:nvSpPr>
        <p:spPr>
          <a:xfrm>
            <a:off x="685800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value, volume, frequency</a:t>
            </a:r>
            <a:endParaRPr lang="en-US" sz="1100" dirty="0"/>
          </a:p>
        </p:txBody>
      </p:sp>
      <p:sp>
        <p:nvSpPr>
          <p:cNvPr id="30" name="Shape 28"/>
          <p:cNvSpPr/>
          <p:nvPr/>
        </p:nvSpPr>
        <p:spPr>
          <a:xfrm>
            <a:off x="9006840" y="4023360"/>
            <a:ext cx="2560320" cy="914400"/>
          </a:xfrm>
          <a:prstGeom prst="roundRect">
            <a:avLst>
              <a:gd name="adj" fmla="val 10000"/>
            </a:avLst>
          </a:prstGeom>
          <a:solidFill>
            <a:srgbClr val="F1F5FA"/>
          </a:solidFill>
          <a:ln/>
        </p:spPr>
      </p:sp>
      <p:sp>
        <p:nvSpPr>
          <p:cNvPr id="31" name="Shape 29"/>
          <p:cNvSpPr/>
          <p:nvPr/>
        </p:nvSpPr>
        <p:spPr>
          <a:xfrm>
            <a:off x="9235440" y="4315968"/>
            <a:ext cx="310896" cy="310896"/>
          </a:xfrm>
          <a:prstGeom prst="ellipse">
            <a:avLst/>
          </a:prstGeom>
          <a:solidFill>
            <a:srgbClr val="2ED8A7"/>
          </a:solidFill>
          <a:ln/>
        </p:spPr>
      </p:sp>
      <p:sp>
        <p:nvSpPr>
          <p:cNvPr id="32" name="Text 30"/>
          <p:cNvSpPr/>
          <p:nvPr/>
        </p:nvSpPr>
        <p:spPr>
          <a:xfrm>
            <a:off x="964692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Journal the thesis</a:t>
            </a:r>
            <a:endParaRPr lang="en-US" sz="1250" dirty="0"/>
          </a:p>
        </p:txBody>
      </p:sp>
      <p:sp>
        <p:nvSpPr>
          <p:cNvPr id="33" name="Text 31"/>
          <p:cNvSpPr/>
          <p:nvPr/>
        </p:nvSpPr>
        <p:spPr>
          <a:xfrm>
            <a:off x="964692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before anything executes</a:t>
            </a:r>
            <a:endParaRPr lang="en-US" sz="1100" dirty="0"/>
          </a:p>
        </p:txBody>
      </p:sp>
      <p:sp>
        <p:nvSpPr>
          <p:cNvPr id="34" name="Shape 32"/>
          <p:cNvSpPr/>
          <p:nvPr/>
        </p:nvSpPr>
        <p:spPr>
          <a:xfrm>
            <a:off x="640080" y="5257800"/>
            <a:ext cx="10911535" cy="777240"/>
          </a:xfrm>
          <a:prstGeom prst="roundRect">
            <a:avLst>
              <a:gd name="adj" fmla="val 11765"/>
            </a:avLst>
          </a:prstGeom>
          <a:solidFill>
            <a:srgbClr val="16223B"/>
          </a:solidFill>
          <a:ln/>
        </p:spPr>
      </p:sp>
      <p:sp>
        <p:nvSpPr>
          <p:cNvPr id="35" name="Text 33"/>
          <p:cNvSpPr/>
          <p:nvPr/>
        </p:nvSpPr>
        <p:spPr>
          <a:xfrm>
            <a:off x="1005840" y="5257800"/>
            <a:ext cx="10180015" cy="7772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Afterwards the scorer grades every journaled decision against what actually happened - closing the loop no agent framework closes today.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PROOF - WE ALREADY BUILT AND RAN IT</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Validation killed the intuitive policy before money moved</a:t>
            </a:r>
            <a:endParaRPr lang="en-US" sz="3400" dirty="0"/>
          </a:p>
        </p:txBody>
      </p:sp>
      <p:sp>
        <p:nvSpPr>
          <p:cNvPr id="4" name="Text 2"/>
          <p:cNvSpPr/>
          <p:nvPr/>
        </p:nvSpPr>
        <p:spPr>
          <a:xfrm>
            <a:off x="640080" y="1783080"/>
            <a:ext cx="2103120" cy="731520"/>
          </a:xfrm>
          <a:prstGeom prst="rect">
            <a:avLst/>
          </a:prstGeom>
          <a:noFill/>
          <a:ln/>
        </p:spPr>
        <p:txBody>
          <a:bodyPr wrap="square" lIns="0" tIns="0" rIns="0" bIns="0" rtlCol="0" anchor="ctr"/>
          <a:lstStyle/>
          <a:p>
            <a:pPr indent="0" marL="0">
              <a:buNone/>
            </a:pPr>
            <a:r>
              <a:rPr lang="en-US" sz="3600" b="1" dirty="0">
                <a:solidFill>
                  <a:srgbClr val="16223B"/>
                </a:solidFill>
                <a:latin typeface="Cambria" pitchFamily="34" charset="0"/>
                <a:ea typeface="Cambria" pitchFamily="34" charset="-122"/>
                <a:cs typeface="Cambria" pitchFamily="34" charset="-120"/>
              </a:rPr>
              <a:t>11/11</a:t>
            </a:r>
            <a:endParaRPr lang="en-US" sz="3600" dirty="0"/>
          </a:p>
        </p:txBody>
      </p:sp>
      <p:sp>
        <p:nvSpPr>
          <p:cNvPr id="5" name="Text 3"/>
          <p:cNvSpPr/>
          <p:nvPr/>
        </p:nvSpPr>
        <p:spPr>
          <a:xfrm>
            <a:off x="2788920" y="1874520"/>
            <a:ext cx="2880360" cy="82296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years 2010-2020 with positive net-of-cost alpha, 8,405 trades - sign test p = 0.0005</a:t>
            </a:r>
            <a:endParaRPr lang="en-US" sz="1250" dirty="0"/>
          </a:p>
        </p:txBody>
      </p:sp>
      <p:sp>
        <p:nvSpPr>
          <p:cNvPr id="6" name="Text 4"/>
          <p:cNvSpPr/>
          <p:nvPr/>
        </p:nvSpPr>
        <p:spPr>
          <a:xfrm>
            <a:off x="640080" y="3017520"/>
            <a:ext cx="2103120" cy="731520"/>
          </a:xfrm>
          <a:prstGeom prst="rect">
            <a:avLst/>
          </a:prstGeom>
          <a:noFill/>
          <a:ln/>
        </p:spPr>
        <p:txBody>
          <a:bodyPr wrap="square" lIns="0" tIns="0" rIns="0" bIns="0" rtlCol="0" anchor="ctr"/>
          <a:lstStyle/>
          <a:p>
            <a:pPr indent="0" marL="0">
              <a:buNone/>
            </a:pPr>
            <a:r>
              <a:rPr lang="en-US" sz="3600" b="1" dirty="0">
                <a:solidFill>
                  <a:srgbClr val="FF6B6B"/>
                </a:solidFill>
                <a:latin typeface="Cambria" pitchFamily="34" charset="0"/>
                <a:ea typeface="Cambria" pitchFamily="34" charset="-122"/>
                <a:cs typeface="Cambria" pitchFamily="34" charset="-120"/>
              </a:rPr>
              <a:t>-1.55%</a:t>
            </a:r>
            <a:endParaRPr lang="en-US" sz="3600" dirty="0"/>
          </a:p>
        </p:txBody>
      </p:sp>
      <p:sp>
        <p:nvSpPr>
          <p:cNvPr id="7" name="Text 5"/>
          <p:cNvSpPr/>
          <p:nvPr/>
        </p:nvSpPr>
        <p:spPr>
          <a:xfrm>
            <a:off x="2788920" y="3108960"/>
            <a:ext cx="2880360" cy="82296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per trade: the intuitive 'chase momentum' policy, net of costs - negative in every configuration</a:t>
            </a:r>
            <a:endParaRPr lang="en-US" sz="1250" dirty="0"/>
          </a:p>
        </p:txBody>
      </p:sp>
      <p:sp>
        <p:nvSpPr>
          <p:cNvPr id="8" name="Text 6"/>
          <p:cNvSpPr/>
          <p:nvPr/>
        </p:nvSpPr>
        <p:spPr>
          <a:xfrm>
            <a:off x="640080" y="4251960"/>
            <a:ext cx="2103120" cy="731520"/>
          </a:xfrm>
          <a:prstGeom prst="rect">
            <a:avLst/>
          </a:prstGeom>
          <a:noFill/>
          <a:ln/>
        </p:spPr>
        <p:txBody>
          <a:bodyPr wrap="square" lIns="0" tIns="0" rIns="0" bIns="0" rtlCol="0" anchor="ctr"/>
          <a:lstStyle/>
          <a:p>
            <a:pPr indent="0" marL="0">
              <a:buNone/>
            </a:pPr>
            <a:r>
              <a:rPr lang="en-US" sz="3600" b="1" dirty="0">
                <a:solidFill>
                  <a:srgbClr val="2ED8A7"/>
                </a:solidFill>
                <a:latin typeface="Cambria" pitchFamily="34" charset="0"/>
                <a:ea typeface="Cambria" pitchFamily="34" charset="-122"/>
                <a:cs typeface="Cambria" pitchFamily="34" charset="-120"/>
              </a:rPr>
              <a:t>+2.32%</a:t>
            </a:r>
            <a:endParaRPr lang="en-US" sz="3600" dirty="0"/>
          </a:p>
        </p:txBody>
      </p:sp>
      <p:sp>
        <p:nvSpPr>
          <p:cNvPr id="9" name="Text 7"/>
          <p:cNvSpPr/>
          <p:nvPr/>
        </p:nvSpPr>
        <p:spPr>
          <a:xfrm>
            <a:off x="2788920" y="4343400"/>
            <a:ext cx="2880360" cy="82296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per trade: the validated fade policy, benchmark-adjusted, net of costs</a:t>
            </a:r>
            <a:endParaRPr lang="en-US" sz="1250" dirty="0"/>
          </a:p>
        </p:txBody>
      </p:sp>
      <p:sp>
        <p:nvSpPr>
          <p:cNvPr id="10" name="Text 8"/>
          <p:cNvSpPr/>
          <p:nvPr/>
        </p:nvSpPr>
        <p:spPr>
          <a:xfrm>
            <a:off x="5943600" y="1783080"/>
            <a:ext cx="5669280" cy="274320"/>
          </a:xfrm>
          <a:prstGeom prst="rect">
            <a:avLst/>
          </a:prstGeom>
          <a:noFill/>
          <a:ln/>
        </p:spPr>
        <p:txBody>
          <a:bodyPr wrap="square" lIns="0" tIns="0" rIns="0" bIns="0" rtlCol="0" anchor="ctr"/>
          <a:lstStyle/>
          <a:p>
            <a:pPr indent="0" marL="0">
              <a:buNone/>
            </a:pPr>
            <a:r>
              <a:rPr lang="en-US" sz="1200" b="1" dirty="0">
                <a:solidFill>
                  <a:srgbClr val="16223B"/>
                </a:solidFill>
                <a:latin typeface="Calibri" pitchFamily="34" charset="0"/>
                <a:ea typeface="Calibri" pitchFamily="34" charset="-122"/>
                <a:cs typeface="Calibri" pitchFamily="34" charset="-120"/>
              </a:rPr>
              <a:t>Live window: monthly benchmark-adjusted return, net of costs (%)</a:t>
            </a:r>
            <a:endParaRPr lang="en-US" sz="1200" dirty="0"/>
          </a:p>
        </p:txBody>
      </p:sp>
      <p:graphicFrame>
        <p:nvGraphicFramePr>
          <p:cNvPr id="11" name="Chart 0" descr=""/>
          <p:cNvGraphicFramePr/>
          <p:nvPr/>
        </p:nvGraphicFramePr>
        <p:xfrm>
          <a:off x="5852160" y="2103120"/>
          <a:ext cx="5760720" cy="27432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5852160" y="4892040"/>
            <a:ext cx="5760720" cy="457200"/>
          </a:xfrm>
          <a:prstGeom prst="rect">
            <a:avLst/>
          </a:prstGeom>
          <a:noFill/>
          <a:ln/>
        </p:spPr>
        <p:txBody>
          <a:bodyPr wrap="square" lIns="0" tIns="0" rIns="0" bIns="0" rtlCol="0" anchor="ctr"/>
          <a:lstStyle/>
          <a:p>
            <a:pPr indent="0" marL="0">
              <a:lnSpc>
                <a:spcPts val="1600"/>
              </a:lnSpc>
              <a:buNone/>
            </a:pPr>
            <a:r>
              <a:rPr lang="en-US" sz="1150" dirty="0">
                <a:solidFill>
                  <a:srgbClr val="5A6B87"/>
                </a:solidFill>
                <a:latin typeface="Calibri" pitchFamily="34" charset="0"/>
                <a:ea typeface="Calibri" pitchFamily="34" charset="-122"/>
                <a:cs typeface="Calibri" pitchFamily="34" charset="-120"/>
              </a:rPr>
              <a:t>Live 14 months: +0.58%/trade net · PF 1.02 · positive in 8 of 12 · short-side, so for a cash account this is a de-risking filter</a:t>
            </a:r>
            <a:endParaRPr lang="en-US" sz="1150" dirty="0"/>
          </a:p>
        </p:txBody>
      </p:sp>
      <p:sp>
        <p:nvSpPr>
          <p:cNvPr id="13" name="Shape 10"/>
          <p:cNvSpPr/>
          <p:nvPr/>
        </p:nvSpPr>
        <p:spPr>
          <a:xfrm>
            <a:off x="640080" y="5532120"/>
            <a:ext cx="5029200" cy="777240"/>
          </a:xfrm>
          <a:prstGeom prst="roundRect">
            <a:avLst>
              <a:gd name="adj" fmla="val 11765"/>
            </a:avLst>
          </a:prstGeom>
          <a:solidFill>
            <a:srgbClr val="F1F5FA"/>
          </a:solidFill>
          <a:ln/>
        </p:spPr>
      </p:sp>
      <p:sp>
        <p:nvSpPr>
          <p:cNvPr id="14" name="Text 11"/>
          <p:cNvSpPr/>
          <p:nvPr/>
        </p:nvSpPr>
        <p:spPr>
          <a:xfrm>
            <a:off x="914400" y="5532120"/>
            <a:ext cx="4480560" cy="777240"/>
          </a:xfrm>
          <a:prstGeom prst="rect">
            <a:avLst/>
          </a:prstGeom>
          <a:noFill/>
          <a:ln/>
        </p:spPr>
        <p:txBody>
          <a:bodyPr wrap="square" lIns="0" tIns="0" rIns="0" bIns="0" rtlCol="0" anchor="ctr"/>
          <a:lstStyle/>
          <a:p>
            <a:pPr indent="0" marL="0">
              <a:buNone/>
            </a:pPr>
            <a:r>
              <a:rPr lang="en-US" sz="1300" b="1" dirty="0">
                <a:solidFill>
                  <a:srgbClr val="16223B"/>
                </a:solidFill>
                <a:latin typeface="Calibri" pitchFamily="34" charset="0"/>
                <a:ea typeface="Calibri" pitchFamily="34" charset="-122"/>
                <a:cs typeface="Calibri" pitchFamily="34" charset="-120"/>
              </a:rPr>
              <a:t>Live: </a:t>
            </a:r>
            <a:pPr indent="0" marL="0">
              <a:buNone/>
            </a:pPr>
            <a:r>
              <a:rPr lang="en-US" sz="1300" dirty="0">
                <a:solidFill>
                  <a:srgbClr val="5A6B87"/>
                </a:solidFill>
                <a:latin typeface="Calibri" pitchFamily="34" charset="0"/>
                <a:ea typeface="Calibri" pitchFamily="34" charset="-122"/>
                <a:cs typeface="Calibri" pitchFamily="34" charset="-120"/>
              </a:rPr>
              <a:t>top governed decision returned </a:t>
            </a:r>
            <a:pPr indent="0" marL="0">
              <a:buNone/>
            </a:pPr>
            <a:r>
              <a:rPr lang="en-US" sz="1300" b="1" dirty="0">
                <a:solidFill>
                  <a:srgbClr val="16223B"/>
                </a:solidFill>
                <a:latin typeface="Calibri" pitchFamily="34" charset="0"/>
                <a:ea typeface="Calibri" pitchFamily="34" charset="-122"/>
                <a:cs typeface="Calibri" pitchFamily="34" charset="-120"/>
              </a:rPr>
              <a:t>+10.31%</a:t>
            </a:r>
            <a:pPr indent="0" marL="0">
              <a:buNone/>
            </a:pPr>
            <a:r>
              <a:rPr lang="en-US" sz="1300" dirty="0">
                <a:solidFill>
                  <a:srgbClr val="5A6B87"/>
                </a:solidFill>
                <a:latin typeface="Calibri" pitchFamily="34" charset="0"/>
                <a:ea typeface="Calibri" pitchFamily="34" charset="-122"/>
                <a:cs typeface="Calibri" pitchFamily="34" charset="-120"/>
              </a:rPr>
              <a:t> against a market that fell 0.95%.</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MOMENT THAT MATTERS</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It caught its own hypothesis being wrong</a:t>
            </a:r>
            <a:endParaRPr lang="en-US" sz="3400" dirty="0"/>
          </a:p>
        </p:txBody>
      </p:sp>
      <p:sp>
        <p:nvSpPr>
          <p:cNvPr id="4" name="Shape 2"/>
          <p:cNvSpPr/>
          <p:nvPr/>
        </p:nvSpPr>
        <p:spPr>
          <a:xfrm>
            <a:off x="640080" y="1737360"/>
            <a:ext cx="5212080" cy="2148840"/>
          </a:xfrm>
          <a:prstGeom prst="roundRect">
            <a:avLst>
              <a:gd name="adj" fmla="val 5106"/>
            </a:avLst>
          </a:prstGeom>
          <a:solidFill>
            <a:srgbClr val="1C2E52"/>
          </a:solidFill>
          <a:ln/>
        </p:spPr>
      </p:sp>
      <p:sp>
        <p:nvSpPr>
          <p:cNvPr id="5" name="Text 3"/>
          <p:cNvSpPr/>
          <p:nvPr/>
        </p:nvSpPr>
        <p:spPr>
          <a:xfrm>
            <a:off x="960120" y="1965960"/>
            <a:ext cx="4572000" cy="274320"/>
          </a:xfrm>
          <a:prstGeom prst="rect">
            <a:avLst/>
          </a:prstGeom>
          <a:noFill/>
          <a:ln/>
        </p:spPr>
        <p:txBody>
          <a:bodyPr wrap="square" lIns="0" tIns="0" rIns="0" bIns="0" rtlCol="0" anchor="ctr"/>
          <a:lstStyle/>
          <a:p>
            <a:pPr indent="0" marL="0">
              <a:buNone/>
            </a:pPr>
            <a:r>
              <a:rPr lang="en-US" sz="1100" b="1" spc="200" kern="0" dirty="0">
                <a:solidFill>
                  <a:srgbClr val="AFC3E0"/>
                </a:solidFill>
                <a:latin typeface="Calibri" pitchFamily="34" charset="0"/>
                <a:ea typeface="Calibri" pitchFamily="34" charset="-122"/>
                <a:cs typeface="Calibri" pitchFamily="34" charset="-120"/>
              </a:rPr>
              <a:t>WHAT THE AGENT BELIEVED</a:t>
            </a:r>
            <a:endParaRPr lang="en-US" sz="1100" dirty="0"/>
          </a:p>
        </p:txBody>
      </p:sp>
      <p:sp>
        <p:nvSpPr>
          <p:cNvPr id="6" name="Text 4"/>
          <p:cNvSpPr/>
          <p:nvPr/>
        </p:nvSpPr>
        <p:spPr>
          <a:xfrm>
            <a:off x="960120" y="2304288"/>
            <a:ext cx="4572000" cy="1005840"/>
          </a:xfrm>
          <a:prstGeom prst="rect">
            <a:avLst/>
          </a:prstGeom>
          <a:noFill/>
          <a:ln/>
        </p:spPr>
        <p:txBody>
          <a:bodyPr wrap="square" lIns="0" tIns="0" rIns="0" bIns="0" rtlCol="0" anchor="ctr"/>
          <a:lstStyle/>
          <a:p>
            <a:pPr indent="0" marL="0">
              <a:lnSpc>
                <a:spcPts val="2400"/>
              </a:lnSpc>
              <a:buNone/>
            </a:pPr>
            <a:r>
              <a:rPr lang="en-US" sz="1600" i="1" dirty="0">
                <a:solidFill>
                  <a:srgbClr val="FFFFFF"/>
                </a:solidFill>
                <a:latin typeface="Cambria" pitchFamily="34" charset="0"/>
                <a:ea typeface="Cambria" pitchFamily="34" charset="-122"/>
                <a:cs typeface="Cambria" pitchFamily="34" charset="-120"/>
              </a:rPr>
              <a:t>"Moves backed by a genuine news catalyst behave differently, so we take no action on those."</a:t>
            </a:r>
            <a:endParaRPr lang="en-US" sz="1600" dirty="0"/>
          </a:p>
        </p:txBody>
      </p:sp>
      <p:sp>
        <p:nvSpPr>
          <p:cNvPr id="7" name="Text 5"/>
          <p:cNvSpPr/>
          <p:nvPr/>
        </p:nvSpPr>
        <p:spPr>
          <a:xfrm>
            <a:off x="960120" y="3346704"/>
            <a:ext cx="4572000" cy="411480"/>
          </a:xfrm>
          <a:prstGeom prst="rect">
            <a:avLst/>
          </a:prstGeom>
          <a:noFill/>
          <a:ln/>
        </p:spPr>
        <p:txBody>
          <a:bodyPr wrap="square" lIns="0" tIns="0" rIns="0" bIns="0" rtlCol="0" anchor="ctr"/>
          <a:lstStyle/>
          <a:p>
            <a:pPr indent="0" marL="0">
              <a:buNone/>
            </a:pPr>
            <a:r>
              <a:rPr lang="en-US" sz="1200" dirty="0">
                <a:solidFill>
                  <a:srgbClr val="AFC3E0"/>
                </a:solidFill>
                <a:latin typeface="Calibri" pitchFamily="34" charset="0"/>
                <a:ea typeface="Calibri" pitchFamily="34" charset="-122"/>
                <a:cs typeface="Calibri" pitchFamily="34" charset="-120"/>
              </a:rPr>
              <a:t>Recorded in the journal, with reasoning, before the outcome was known.</a:t>
            </a:r>
            <a:endParaRPr lang="en-US" sz="1200" dirty="0"/>
          </a:p>
        </p:txBody>
      </p:sp>
      <p:sp>
        <p:nvSpPr>
          <p:cNvPr id="8" name="Shape 6"/>
          <p:cNvSpPr/>
          <p:nvPr/>
        </p:nvSpPr>
        <p:spPr>
          <a:xfrm>
            <a:off x="6355080" y="1737360"/>
            <a:ext cx="5212080" cy="2148840"/>
          </a:xfrm>
          <a:prstGeom prst="roundRect">
            <a:avLst>
              <a:gd name="adj" fmla="val 5106"/>
            </a:avLst>
          </a:prstGeom>
          <a:solidFill>
            <a:srgbClr val="1C2E52"/>
          </a:solidFill>
          <a:ln/>
        </p:spPr>
      </p:sp>
      <p:sp>
        <p:nvSpPr>
          <p:cNvPr id="9" name="Text 7"/>
          <p:cNvSpPr/>
          <p:nvPr/>
        </p:nvSpPr>
        <p:spPr>
          <a:xfrm>
            <a:off x="6675120" y="1965960"/>
            <a:ext cx="4572000" cy="274320"/>
          </a:xfrm>
          <a:prstGeom prst="rect">
            <a:avLst/>
          </a:prstGeom>
          <a:noFill/>
          <a:ln/>
        </p:spPr>
        <p:txBody>
          <a:bodyPr wrap="square" lIns="0" tIns="0" rIns="0" bIns="0" rtlCol="0" anchor="ctr"/>
          <a:lstStyle/>
          <a:p>
            <a:pPr indent="0" marL="0">
              <a:buNone/>
            </a:pPr>
            <a:r>
              <a:rPr lang="en-US" sz="1100" b="1" spc="200" kern="0" dirty="0">
                <a:solidFill>
                  <a:srgbClr val="2ED8A7"/>
                </a:solidFill>
                <a:latin typeface="Calibri" pitchFamily="34" charset="0"/>
                <a:ea typeface="Calibri" pitchFamily="34" charset="-122"/>
                <a:cs typeface="Calibri" pitchFamily="34" charset="-120"/>
              </a:rPr>
              <a:t>WHAT THE SCORER FOUND</a:t>
            </a:r>
            <a:endParaRPr lang="en-US" sz="1100" dirty="0"/>
          </a:p>
        </p:txBody>
      </p:sp>
      <p:sp>
        <p:nvSpPr>
          <p:cNvPr id="10" name="Text 8"/>
          <p:cNvSpPr/>
          <p:nvPr/>
        </p:nvSpPr>
        <p:spPr>
          <a:xfrm>
            <a:off x="6675120" y="2304288"/>
            <a:ext cx="45720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hypothesis was wrong.</a:t>
            </a:r>
            <a:endParaRPr lang="en-US" sz="2200" dirty="0"/>
          </a:p>
        </p:txBody>
      </p:sp>
      <p:sp>
        <p:nvSpPr>
          <p:cNvPr id="11" name="Text 9"/>
          <p:cNvSpPr/>
          <p:nvPr/>
        </p:nvSpPr>
        <p:spPr>
          <a:xfrm>
            <a:off x="6675120" y="2788920"/>
            <a:ext cx="4572000" cy="960120"/>
          </a:xfrm>
          <a:prstGeom prst="rect">
            <a:avLst/>
          </a:prstGeom>
          <a:noFill/>
          <a:ln/>
        </p:spPr>
        <p:txBody>
          <a:bodyPr wrap="square" lIns="0" tIns="0" rIns="0" bIns="0" rtlCol="0" anchor="ctr"/>
          <a:lstStyle/>
          <a:p>
            <a:pPr indent="0" marL="0">
              <a:lnSpc>
                <a:spcPts val="1900"/>
              </a:lnSpc>
              <a:buNone/>
            </a:pPr>
            <a:r>
              <a:rPr lang="en-US" sz="1300" dirty="0">
                <a:solidFill>
                  <a:srgbClr val="AFC3E0"/>
                </a:solidFill>
                <a:latin typeface="Calibri" pitchFamily="34" charset="0"/>
                <a:ea typeface="Calibri" pitchFamily="34" charset="-122"/>
                <a:cs typeface="Calibri" pitchFamily="34" charset="-120"/>
              </a:rPr>
              <a:t>Catalyst-backed moves reversed just as hard. The agent's own reasoning cost it two profitable decisions - and the data said so within three days.</a:t>
            </a:r>
            <a:endParaRPr lang="en-US" sz="1300" dirty="0"/>
          </a:p>
        </p:txBody>
      </p:sp>
      <p:sp>
        <p:nvSpPr>
          <p:cNvPr id="12" name="Shape 10"/>
          <p:cNvSpPr/>
          <p:nvPr/>
        </p:nvSpPr>
        <p:spPr>
          <a:xfrm>
            <a:off x="640080" y="4041648"/>
            <a:ext cx="10908792" cy="566928"/>
          </a:xfrm>
          <a:prstGeom prst="roundRect">
            <a:avLst>
              <a:gd name="adj" fmla="val 19355"/>
            </a:avLst>
          </a:prstGeom>
          <a:solidFill>
            <a:srgbClr val="16274A"/>
          </a:solidFill>
          <a:ln/>
        </p:spPr>
      </p:sp>
      <p:sp>
        <p:nvSpPr>
          <p:cNvPr id="13" name="Text 11"/>
          <p:cNvSpPr/>
          <p:nvPr/>
        </p:nvSpPr>
        <p:spPr>
          <a:xfrm>
            <a:off x="960120" y="4041648"/>
            <a:ext cx="10287000" cy="566928"/>
          </a:xfrm>
          <a:prstGeom prst="rect">
            <a:avLst/>
          </a:prstGeom>
          <a:noFill/>
          <a:ln/>
        </p:spPr>
        <p:txBody>
          <a:bodyPr wrap="square" lIns="0" tIns="0" rIns="0" bIns="0" rtlCol="0" anchor="ctr"/>
          <a:lstStyle/>
          <a:p>
            <a:pPr indent="0" marL="0">
              <a:buNone/>
            </a:pPr>
            <a:r>
              <a:rPr lang="en-US" sz="1300" b="1" dirty="0">
                <a:solidFill>
                  <a:srgbClr val="2ED8A7"/>
                </a:solidFill>
                <a:latin typeface="Calibri" pitchFamily="34" charset="0"/>
                <a:ea typeface="Calibri" pitchFamily="34" charset="-122"/>
                <a:cs typeface="Calibri" pitchFamily="34" charset="-120"/>
              </a:rPr>
              <a:t>n = 5, one week. </a:t>
            </a:r>
            <a:pPr indent="0" marL="0">
              <a:buNone/>
            </a:pPr>
            <a:r>
              <a:rPr lang="en-US" sz="1300" dirty="0">
                <a:solidFill>
                  <a:srgbClr val="AFC3E0"/>
                </a:solidFill>
                <a:latin typeface="Calibri" pitchFamily="34" charset="0"/>
                <a:ea typeface="Calibri" pitchFamily="34" charset="-122"/>
                <a:cs typeface="Calibri" pitchFamily="34" charset="-120"/>
              </a:rPr>
              <a:t>Not statistically valid - and logged, dated and testable anyway. That is the point: the loop caught it, not a person reviewing it later.</a:t>
            </a:r>
            <a:endParaRPr lang="en-US" sz="1300" dirty="0"/>
          </a:p>
        </p:txBody>
      </p:sp>
      <p:sp>
        <p:nvSpPr>
          <p:cNvPr id="14" name="Text 12"/>
          <p:cNvSpPr/>
          <p:nvPr/>
        </p:nvSpPr>
        <p:spPr>
          <a:xfrm>
            <a:off x="640080" y="4754880"/>
            <a:ext cx="10881360" cy="274320"/>
          </a:xfrm>
          <a:prstGeom prst="rect">
            <a:avLst/>
          </a:prstGeom>
          <a:noFill/>
          <a:ln/>
        </p:spPr>
        <p:txBody>
          <a:bodyPr wrap="square" lIns="0" tIns="0" rIns="0" bIns="0" rtlCol="0" anchor="ctr"/>
          <a:lstStyle/>
          <a:p>
            <a:pPr indent="0" marL="0">
              <a:buNone/>
            </a:pPr>
            <a:r>
              <a:rPr lang="en-US" sz="1100" b="1" spc="200" kern="0" dirty="0">
                <a:solidFill>
                  <a:srgbClr val="2ED8A7"/>
                </a:solidFill>
                <a:latin typeface="Calibri" pitchFamily="34" charset="0"/>
                <a:ea typeface="Calibri" pitchFamily="34" charset="-122"/>
                <a:cs typeface="Calibri" pitchFamily="34" charset="-120"/>
              </a:rPr>
              <a:t>AND IT KEPT HAPPENING - THREE TIMES, ESCALATING</a:t>
            </a:r>
            <a:endParaRPr lang="en-US" sz="1100" dirty="0"/>
          </a:p>
        </p:txBody>
      </p:sp>
      <p:sp>
        <p:nvSpPr>
          <p:cNvPr id="15" name="Text 13"/>
          <p:cNvSpPr/>
          <p:nvPr/>
        </p:nvSpPr>
        <p:spPr>
          <a:xfrm>
            <a:off x="640080" y="5074920"/>
            <a:ext cx="10881360" cy="36576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Caught after the fact - </a:t>
            </a:r>
            <a:pPr indent="0" marL="0">
              <a:lnSpc>
                <a:spcPts val="1600"/>
              </a:lnSpc>
              <a:buNone/>
            </a:pPr>
            <a:r>
              <a:rPr lang="en-US" sz="1250" dirty="0">
                <a:solidFill>
                  <a:srgbClr val="AFC3E0"/>
                </a:solidFill>
                <a:latin typeface="Calibri" pitchFamily="34" charset="0"/>
                <a:ea typeface="Calibri" pitchFamily="34" charset="-122"/>
                <a:cs typeface="Calibri" pitchFamily="34" charset="-120"/>
              </a:rPr>
              <a:t>the catalyst veto above. The scorer contradicted it three days later.</a:t>
            </a:r>
            <a:endParaRPr lang="en-US" sz="1250" dirty="0"/>
          </a:p>
        </p:txBody>
      </p:sp>
      <p:sp>
        <p:nvSpPr>
          <p:cNvPr id="16" name="Text 14"/>
          <p:cNvSpPr/>
          <p:nvPr/>
        </p:nvSpPr>
        <p:spPr>
          <a:xfrm>
            <a:off x="640080" y="5458968"/>
            <a:ext cx="10881360" cy="36576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Caught by audit - </a:t>
            </a:r>
            <a:pPr indent="0" marL="0">
              <a:lnSpc>
                <a:spcPts val="1600"/>
              </a:lnSpc>
              <a:buNone/>
            </a:pPr>
            <a:r>
              <a:rPr lang="en-US" sz="1250" dirty="0">
                <a:solidFill>
                  <a:srgbClr val="AFC3E0"/>
                </a:solidFill>
                <a:latin typeface="Calibri" pitchFamily="34" charset="0"/>
                <a:ea typeface="Calibri" pitchFamily="34" charset="-122"/>
                <a:cs typeface="Calibri" pitchFamily="34" charset="-120"/>
              </a:rPr>
              <a:t>a headline backtest figure would not reproduce. Every run is now stamped so it cannot recur.</a:t>
            </a:r>
            <a:endParaRPr lang="en-US" sz="1250" dirty="0"/>
          </a:p>
        </p:txBody>
      </p:sp>
      <p:sp>
        <p:nvSpPr>
          <p:cNvPr id="17" name="Text 15"/>
          <p:cNvSpPr/>
          <p:nvPr/>
        </p:nvSpPr>
        <p:spPr>
          <a:xfrm>
            <a:off x="640080" y="5843016"/>
            <a:ext cx="10881360" cy="36576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Caught in advance - </a:t>
            </a:r>
            <a:pPr indent="0" marL="0">
              <a:lnSpc>
                <a:spcPts val="1600"/>
              </a:lnSpc>
              <a:buNone/>
            </a:pPr>
            <a:r>
              <a:rPr lang="en-US" sz="1250" dirty="0">
                <a:solidFill>
                  <a:srgbClr val="AFC3E0"/>
                </a:solidFill>
                <a:latin typeface="Calibri" pitchFamily="34" charset="0"/>
                <a:ea typeface="Calibri" pitchFamily="34" charset="-122"/>
                <a:cs typeface="Calibri" pitchFamily="34" charset="-120"/>
              </a:rPr>
              <a:t>a regime hypothesis pre-registered with its falsification region, then falsified by the data.</a:t>
            </a:r>
            <a:endParaRPr lang="en-US" sz="1250" dirty="0"/>
          </a:p>
        </p:txBody>
      </p:sp>
      <p:sp>
        <p:nvSpPr>
          <p:cNvPr id="18" name="Text 16"/>
          <p:cNvSpPr/>
          <p:nvPr/>
        </p:nvSpPr>
        <p:spPr>
          <a:xfrm>
            <a:off x="640080" y="6263640"/>
            <a:ext cx="1088136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forgotten assumption becomes a dated, reviewable record. That is what governance is for.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BEYOND THE PROVING GROUND</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Swap the action schema and the scorer - the layer holds</a:t>
            </a:r>
            <a:endParaRPr lang="en-US" sz="3400" dirty="0"/>
          </a:p>
        </p:txBody>
      </p:sp>
      <p:sp>
        <p:nvSpPr>
          <p:cNvPr id="4" name="Text 2"/>
          <p:cNvSpPr/>
          <p:nvPr/>
        </p:nvSpPr>
        <p:spPr>
          <a:xfrm>
            <a:off x="640080" y="1691640"/>
            <a:ext cx="10911535" cy="548640"/>
          </a:xfrm>
          <a:prstGeom prst="rect">
            <a:avLst/>
          </a:prstGeom>
          <a:noFill/>
          <a:ln/>
        </p:spPr>
        <p:txBody>
          <a:bodyPr wrap="square" lIns="0" tIns="0" rIns="0" bIns="0" rtlCol="0" anchor="ctr"/>
          <a:lstStyle/>
          <a:p>
            <a:pPr indent="0" marL="0">
              <a:lnSpc>
                <a:spcPts val="1900"/>
              </a:lnSpc>
              <a:buNone/>
            </a:pPr>
            <a:r>
              <a:rPr lang="en-US" sz="1350" dirty="0">
                <a:solidFill>
                  <a:srgbClr val="5A6B87"/>
                </a:solidFill>
                <a:latin typeface="Calibri" pitchFamily="34" charset="0"/>
                <a:ea typeface="Calibri" pitchFamily="34" charset="-122"/>
                <a:cs typeface="Calibri" pitchFamily="34" charset="-120"/>
              </a:rPr>
              <a:t>Markets were chosen deliberately: they return unambiguous ground truth on a fixed schedule, so a governance layer can be proven rather than asserted. The primitives themselves are domain-agnostic.</a:t>
            </a:r>
            <a:endParaRPr lang="en-US" sz="1350" dirty="0"/>
          </a:p>
        </p:txBody>
      </p:sp>
      <p:sp>
        <p:nvSpPr>
          <p:cNvPr id="5" name="Shape 3"/>
          <p:cNvSpPr/>
          <p:nvPr/>
        </p:nvSpPr>
        <p:spPr>
          <a:xfrm>
            <a:off x="640080" y="2514600"/>
            <a:ext cx="3383280" cy="2514600"/>
          </a:xfrm>
          <a:prstGeom prst="roundRect">
            <a:avLst>
              <a:gd name="adj" fmla="val 4364"/>
            </a:avLst>
          </a:prstGeom>
          <a:solidFill>
            <a:srgbClr val="F1F5FA"/>
          </a:solidFill>
          <a:ln/>
        </p:spPr>
      </p:sp>
      <p:sp>
        <p:nvSpPr>
          <p:cNvPr id="6" name="Text 4"/>
          <p:cNvSpPr/>
          <p:nvPr/>
        </p:nvSpPr>
        <p:spPr>
          <a:xfrm>
            <a:off x="960120" y="2788920"/>
            <a:ext cx="2743200" cy="640080"/>
          </a:xfrm>
          <a:prstGeom prst="rect">
            <a:avLst/>
          </a:prstGeom>
          <a:noFill/>
          <a:ln/>
        </p:spPr>
        <p:txBody>
          <a:bodyPr wrap="square" lIns="0" tIns="0" rIns="0" bIns="0" rtlCol="0" anchor="ctr"/>
          <a:lstStyle/>
          <a:p>
            <a:pPr indent="0" marL="0">
              <a:buNone/>
            </a:pPr>
            <a:r>
              <a:rPr lang="en-US" sz="1700" b="1" dirty="0">
                <a:solidFill>
                  <a:srgbClr val="16223B"/>
                </a:solidFill>
                <a:latin typeface="Cambria" pitchFamily="34" charset="0"/>
                <a:ea typeface="Cambria" pitchFamily="34" charset="-122"/>
                <a:cs typeface="Cambria" pitchFamily="34" charset="-120"/>
              </a:rPr>
              <a:t>Dispute &amp; chargeback agent</a:t>
            </a:r>
            <a:endParaRPr lang="en-US" sz="1700" dirty="0"/>
          </a:p>
        </p:txBody>
      </p:sp>
      <p:sp>
        <p:nvSpPr>
          <p:cNvPr id="7" name="Text 5"/>
          <p:cNvSpPr/>
          <p:nvPr/>
        </p:nvSpPr>
        <p:spPr>
          <a:xfrm>
            <a:off x="960120" y="3520440"/>
            <a:ext cx="2743200" cy="7772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Mandate: refund ceilings, eligible transaction types, per-day counts</a:t>
            </a:r>
            <a:endParaRPr lang="en-US" sz="1200" dirty="0"/>
          </a:p>
        </p:txBody>
      </p:sp>
      <p:sp>
        <p:nvSpPr>
          <p:cNvPr id="8" name="Text 6"/>
          <p:cNvSpPr/>
          <p:nvPr/>
        </p:nvSpPr>
        <p:spPr>
          <a:xfrm>
            <a:off x="960120" y="4343400"/>
            <a:ext cx="2743200" cy="502920"/>
          </a:xfrm>
          <a:prstGeom prst="rect">
            <a:avLst/>
          </a:prstGeom>
          <a:noFill/>
          <a:ln/>
        </p:spPr>
        <p:txBody>
          <a:bodyPr wrap="square" lIns="0" tIns="0" rIns="0" bIns="0" rtlCol="0" anchor="ctr"/>
          <a:lstStyle/>
          <a:p>
            <a:pPr indent="0" marL="0">
              <a:lnSpc>
                <a:spcPts val="1700"/>
              </a:lnSpc>
              <a:buNone/>
            </a:pPr>
            <a:r>
              <a:rPr lang="en-US" sz="1200" b="1" dirty="0">
                <a:solidFill>
                  <a:srgbClr val="16223B"/>
                </a:solidFill>
                <a:latin typeface="Calibri" pitchFamily="34" charset="0"/>
                <a:ea typeface="Calibri" pitchFamily="34" charset="-122"/>
                <a:cs typeface="Calibri" pitchFamily="34" charset="-120"/>
              </a:rPr>
              <a:t>Scorer: was the dispute ultimately upheld?</a:t>
            </a:r>
            <a:endParaRPr lang="en-US" sz="1200" dirty="0"/>
          </a:p>
        </p:txBody>
      </p:sp>
      <p:sp>
        <p:nvSpPr>
          <p:cNvPr id="9" name="Shape 7"/>
          <p:cNvSpPr/>
          <p:nvPr/>
        </p:nvSpPr>
        <p:spPr>
          <a:xfrm>
            <a:off x="4389120" y="2514600"/>
            <a:ext cx="3383280" cy="2514600"/>
          </a:xfrm>
          <a:prstGeom prst="roundRect">
            <a:avLst>
              <a:gd name="adj" fmla="val 4364"/>
            </a:avLst>
          </a:prstGeom>
          <a:solidFill>
            <a:srgbClr val="F1F5FA"/>
          </a:solidFill>
          <a:ln/>
        </p:spPr>
      </p:sp>
      <p:sp>
        <p:nvSpPr>
          <p:cNvPr id="10" name="Text 8"/>
          <p:cNvSpPr/>
          <p:nvPr/>
        </p:nvSpPr>
        <p:spPr>
          <a:xfrm>
            <a:off x="4709160" y="2788920"/>
            <a:ext cx="2743200" cy="640080"/>
          </a:xfrm>
          <a:prstGeom prst="rect">
            <a:avLst/>
          </a:prstGeom>
          <a:noFill/>
          <a:ln/>
        </p:spPr>
        <p:txBody>
          <a:bodyPr wrap="square" lIns="0" tIns="0" rIns="0" bIns="0" rtlCol="0" anchor="ctr"/>
          <a:lstStyle/>
          <a:p>
            <a:pPr indent="0" marL="0">
              <a:buNone/>
            </a:pPr>
            <a:r>
              <a:rPr lang="en-US" sz="1700" b="1" dirty="0">
                <a:solidFill>
                  <a:srgbClr val="16223B"/>
                </a:solidFill>
                <a:latin typeface="Cambria" pitchFamily="34" charset="0"/>
                <a:ea typeface="Cambria" pitchFamily="34" charset="-122"/>
                <a:cs typeface="Cambria" pitchFamily="34" charset="-120"/>
              </a:rPr>
              <a:t>Card benefit activation</a:t>
            </a:r>
            <a:endParaRPr lang="en-US" sz="1700" dirty="0"/>
          </a:p>
        </p:txBody>
      </p:sp>
      <p:sp>
        <p:nvSpPr>
          <p:cNvPr id="11" name="Text 9"/>
          <p:cNvSpPr/>
          <p:nvPr/>
        </p:nvSpPr>
        <p:spPr>
          <a:xfrm>
            <a:off x="4709160" y="3520440"/>
            <a:ext cx="2743200" cy="7772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Mandate: which benefits, which cardholder segments, contact frequency</a:t>
            </a:r>
            <a:endParaRPr lang="en-US" sz="1200" dirty="0"/>
          </a:p>
        </p:txBody>
      </p:sp>
      <p:sp>
        <p:nvSpPr>
          <p:cNvPr id="12" name="Text 10"/>
          <p:cNvSpPr/>
          <p:nvPr/>
        </p:nvSpPr>
        <p:spPr>
          <a:xfrm>
            <a:off x="4709160" y="4343400"/>
            <a:ext cx="2743200" cy="502920"/>
          </a:xfrm>
          <a:prstGeom prst="rect">
            <a:avLst/>
          </a:prstGeom>
          <a:noFill/>
          <a:ln/>
        </p:spPr>
        <p:txBody>
          <a:bodyPr wrap="square" lIns="0" tIns="0" rIns="0" bIns="0" rtlCol="0" anchor="ctr"/>
          <a:lstStyle/>
          <a:p>
            <a:pPr indent="0" marL="0">
              <a:lnSpc>
                <a:spcPts val="1700"/>
              </a:lnSpc>
              <a:buNone/>
            </a:pPr>
            <a:r>
              <a:rPr lang="en-US" sz="1200" b="1" dirty="0">
                <a:solidFill>
                  <a:srgbClr val="16223B"/>
                </a:solidFill>
                <a:latin typeface="Calibri" pitchFamily="34" charset="0"/>
                <a:ea typeface="Calibri" pitchFamily="34" charset="-122"/>
                <a:cs typeface="Calibri" pitchFamily="34" charset="-120"/>
              </a:rPr>
              <a:t>Scorer: was the activated benefit actually used?</a:t>
            </a:r>
            <a:endParaRPr lang="en-US" sz="1200" dirty="0"/>
          </a:p>
        </p:txBody>
      </p:sp>
      <p:sp>
        <p:nvSpPr>
          <p:cNvPr id="13" name="Shape 11"/>
          <p:cNvSpPr/>
          <p:nvPr/>
        </p:nvSpPr>
        <p:spPr>
          <a:xfrm>
            <a:off x="8138160" y="2514600"/>
            <a:ext cx="3383280" cy="2514600"/>
          </a:xfrm>
          <a:prstGeom prst="roundRect">
            <a:avLst>
              <a:gd name="adj" fmla="val 4364"/>
            </a:avLst>
          </a:prstGeom>
          <a:solidFill>
            <a:srgbClr val="F1F5FA"/>
          </a:solidFill>
          <a:ln/>
        </p:spPr>
      </p:sp>
      <p:sp>
        <p:nvSpPr>
          <p:cNvPr id="14" name="Text 12"/>
          <p:cNvSpPr/>
          <p:nvPr/>
        </p:nvSpPr>
        <p:spPr>
          <a:xfrm>
            <a:off x="8458200" y="2788920"/>
            <a:ext cx="2743200" cy="640080"/>
          </a:xfrm>
          <a:prstGeom prst="rect">
            <a:avLst/>
          </a:prstGeom>
          <a:noFill/>
          <a:ln/>
        </p:spPr>
        <p:txBody>
          <a:bodyPr wrap="square" lIns="0" tIns="0" rIns="0" bIns="0" rtlCol="0" anchor="ctr"/>
          <a:lstStyle/>
          <a:p>
            <a:pPr indent="0" marL="0">
              <a:buNone/>
            </a:pPr>
            <a:r>
              <a:rPr lang="en-US" sz="1700" b="1" dirty="0">
                <a:solidFill>
                  <a:srgbClr val="16223B"/>
                </a:solidFill>
                <a:latin typeface="Cambria" pitchFamily="34" charset="0"/>
                <a:ea typeface="Cambria" pitchFamily="34" charset="-122"/>
                <a:cs typeface="Cambria" pitchFamily="34" charset="-120"/>
              </a:rPr>
              <a:t>End-to-end servicing agent</a:t>
            </a:r>
            <a:endParaRPr lang="en-US" sz="1700" dirty="0"/>
          </a:p>
        </p:txBody>
      </p:sp>
      <p:sp>
        <p:nvSpPr>
          <p:cNvPr id="15" name="Text 13"/>
          <p:cNvSpPr/>
          <p:nvPr/>
        </p:nvSpPr>
        <p:spPr>
          <a:xfrm>
            <a:off x="8458200" y="3520440"/>
            <a:ext cx="2743200" cy="7772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Mandate: permitted account actions, value thresholds, escalation rules</a:t>
            </a:r>
            <a:endParaRPr lang="en-US" sz="1200" dirty="0"/>
          </a:p>
        </p:txBody>
      </p:sp>
      <p:sp>
        <p:nvSpPr>
          <p:cNvPr id="16" name="Text 14"/>
          <p:cNvSpPr/>
          <p:nvPr/>
        </p:nvSpPr>
        <p:spPr>
          <a:xfrm>
            <a:off x="8458200" y="4343400"/>
            <a:ext cx="2743200" cy="502920"/>
          </a:xfrm>
          <a:prstGeom prst="rect">
            <a:avLst/>
          </a:prstGeom>
          <a:noFill/>
          <a:ln/>
        </p:spPr>
        <p:txBody>
          <a:bodyPr wrap="square" lIns="0" tIns="0" rIns="0" bIns="0" rtlCol="0" anchor="ctr"/>
          <a:lstStyle/>
          <a:p>
            <a:pPr indent="0" marL="0">
              <a:lnSpc>
                <a:spcPts val="1700"/>
              </a:lnSpc>
              <a:buNone/>
            </a:pPr>
            <a:r>
              <a:rPr lang="en-US" sz="1200" b="1" dirty="0">
                <a:solidFill>
                  <a:srgbClr val="16223B"/>
                </a:solidFill>
                <a:latin typeface="Calibri" pitchFamily="34" charset="0"/>
                <a:ea typeface="Calibri" pitchFamily="34" charset="-122"/>
                <a:cs typeface="Calibri" pitchFamily="34" charset="-120"/>
              </a:rPr>
              <a:t>Scorer: was the issue resolved without repeat contact?</a:t>
            </a:r>
            <a:endParaRPr lang="en-US" sz="1200" dirty="0"/>
          </a:p>
        </p:txBody>
      </p:sp>
      <p:sp>
        <p:nvSpPr>
          <p:cNvPr id="17" name="Text 15"/>
          <p:cNvSpPr/>
          <p:nvPr/>
        </p:nvSpPr>
        <p:spPr>
          <a:xfrm>
            <a:off x="640080" y="5303520"/>
            <a:ext cx="10911535" cy="685800"/>
          </a:xfrm>
          <a:prstGeom prst="rect">
            <a:avLst/>
          </a:prstGeom>
          <a:noFill/>
          <a:ln/>
        </p:spPr>
        <p:txBody>
          <a:bodyPr wrap="square" lIns="0" tIns="0" rIns="0" bIns="0" rtlCol="0" anchor="ctr"/>
          <a:lstStyle/>
          <a:p>
            <a:pPr indent="0" marL="0">
              <a:buNone/>
            </a:pPr>
            <a:r>
              <a:rPr lang="en-US" sz="1700" i="1" dirty="0">
                <a:solidFill>
                  <a:srgbClr val="16223B"/>
                </a:solidFill>
                <a:latin typeface="Cambria" pitchFamily="34" charset="0"/>
                <a:ea typeface="Cambria" pitchFamily="34" charset="-122"/>
                <a:cs typeface="Cambria" pitchFamily="34" charset="-120"/>
              </a:rPr>
              <a:t>The audit trail, the kill switch and the fail-closed mandate never change. Only the action schema and the definition of "was it right" do.</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STATUS</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Built and running, not proposed</a:t>
            </a:r>
            <a:endParaRPr lang="en-US" sz="3400" dirty="0"/>
          </a:p>
        </p:txBody>
      </p:sp>
      <p:sp>
        <p:nvSpPr>
          <p:cNvPr id="4" name="Shape 2"/>
          <p:cNvSpPr/>
          <p:nvPr/>
        </p:nvSpPr>
        <p:spPr>
          <a:xfrm>
            <a:off x="640080" y="1819656"/>
            <a:ext cx="310896" cy="310896"/>
          </a:xfrm>
          <a:prstGeom prst="ellipse">
            <a:avLst/>
          </a:prstGeom>
          <a:solidFill>
            <a:srgbClr val="2ED8A7"/>
          </a:solidFill>
          <a:ln/>
        </p:spPr>
      </p:sp>
      <p:sp>
        <p:nvSpPr>
          <p:cNvPr id="5" name="Text 3"/>
          <p:cNvSpPr/>
          <p:nvPr/>
        </p:nvSpPr>
        <p:spPr>
          <a:xfrm>
            <a:off x="640080" y="1819656"/>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143000" y="1783080"/>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15 MCP tools live and verified over the protocol, across desktop and CLI MCP clients</a:t>
            </a:r>
            <a:endParaRPr lang="en-US" sz="1350" dirty="0"/>
          </a:p>
        </p:txBody>
      </p:sp>
      <p:sp>
        <p:nvSpPr>
          <p:cNvPr id="7" name="Shape 5"/>
          <p:cNvSpPr/>
          <p:nvPr/>
        </p:nvSpPr>
        <p:spPr>
          <a:xfrm>
            <a:off x="640080" y="2478024"/>
            <a:ext cx="310896" cy="310896"/>
          </a:xfrm>
          <a:prstGeom prst="ellipse">
            <a:avLst/>
          </a:prstGeom>
          <a:solidFill>
            <a:srgbClr val="2ED8A7"/>
          </a:solidFill>
          <a:ln/>
        </p:spPr>
      </p:sp>
      <p:sp>
        <p:nvSpPr>
          <p:cNvPr id="8" name="Text 6"/>
          <p:cNvSpPr/>
          <p:nvPr/>
        </p:nvSpPr>
        <p:spPr>
          <a:xfrm>
            <a:off x="640080" y="2478024"/>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143000" y="2441448"/>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Mandate gate and kill switch enforced server-side - tested, and they fail closed</a:t>
            </a:r>
            <a:endParaRPr lang="en-US" sz="1350" dirty="0"/>
          </a:p>
        </p:txBody>
      </p:sp>
      <p:sp>
        <p:nvSpPr>
          <p:cNvPr id="10" name="Shape 8"/>
          <p:cNvSpPr/>
          <p:nvPr/>
        </p:nvSpPr>
        <p:spPr>
          <a:xfrm>
            <a:off x="640080" y="3136392"/>
            <a:ext cx="310896" cy="310896"/>
          </a:xfrm>
          <a:prstGeom prst="ellipse">
            <a:avLst/>
          </a:prstGeom>
          <a:solidFill>
            <a:srgbClr val="2ED8A7"/>
          </a:solidFill>
          <a:ln/>
        </p:spPr>
      </p:sp>
      <p:sp>
        <p:nvSpPr>
          <p:cNvPr id="11" name="Text 9"/>
          <p:cNvSpPr/>
          <p:nvPr/>
        </p:nvSpPr>
        <p:spPr>
          <a:xfrm>
            <a:off x="640080" y="3136392"/>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143000" y="3099816"/>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14 months of market history ingested; simulator reproducible from the repo</a:t>
            </a:r>
            <a:endParaRPr lang="en-US" sz="1350" dirty="0"/>
          </a:p>
        </p:txBody>
      </p:sp>
      <p:sp>
        <p:nvSpPr>
          <p:cNvPr id="13" name="Shape 11"/>
          <p:cNvSpPr/>
          <p:nvPr/>
        </p:nvSpPr>
        <p:spPr>
          <a:xfrm>
            <a:off x="640080" y="3794760"/>
            <a:ext cx="310896" cy="310896"/>
          </a:xfrm>
          <a:prstGeom prst="ellipse">
            <a:avLst/>
          </a:prstGeom>
          <a:solidFill>
            <a:srgbClr val="2ED8A7"/>
          </a:solidFill>
          <a:ln/>
        </p:spPr>
      </p:sp>
      <p:sp>
        <p:nvSpPr>
          <p:cNvPr id="14" name="Text 12"/>
          <p:cNvSpPr/>
          <p:nvPr/>
        </p:nvSpPr>
        <p:spPr>
          <a:xfrm>
            <a:off x="640080" y="3794760"/>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1143000" y="3758184"/>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Journal actively scoring live decisions with full reasoning retained</a:t>
            </a:r>
            <a:endParaRPr lang="en-US" sz="1350" dirty="0"/>
          </a:p>
        </p:txBody>
      </p:sp>
      <p:sp>
        <p:nvSpPr>
          <p:cNvPr id="16" name="Shape 14"/>
          <p:cNvSpPr/>
          <p:nvPr/>
        </p:nvSpPr>
        <p:spPr>
          <a:xfrm>
            <a:off x="7772400" y="1783080"/>
            <a:ext cx="3794760" cy="2651760"/>
          </a:xfrm>
          <a:prstGeom prst="roundRect">
            <a:avLst>
              <a:gd name="adj" fmla="val 4138"/>
            </a:avLst>
          </a:prstGeom>
          <a:solidFill>
            <a:srgbClr val="F1F5FA"/>
          </a:solidFill>
          <a:ln/>
        </p:spPr>
      </p:sp>
      <p:sp>
        <p:nvSpPr>
          <p:cNvPr id="17" name="Text 15"/>
          <p:cNvSpPr/>
          <p:nvPr/>
        </p:nvSpPr>
        <p:spPr>
          <a:xfrm>
            <a:off x="8092440" y="2057400"/>
            <a:ext cx="3108960" cy="274320"/>
          </a:xfrm>
          <a:prstGeom prst="rect">
            <a:avLst/>
          </a:prstGeom>
          <a:noFill/>
          <a:ln/>
        </p:spPr>
        <p:txBody>
          <a:bodyPr wrap="square" lIns="0" tIns="0" rIns="0" bIns="0" rtlCol="0" anchor="ctr"/>
          <a:lstStyle/>
          <a:p>
            <a:pPr indent="0" marL="0">
              <a:buNone/>
            </a:pPr>
            <a:r>
              <a:rPr lang="en-US" sz="1100" b="1" spc="200" kern="0" dirty="0">
                <a:solidFill>
                  <a:srgbClr val="5A6B87"/>
                </a:solidFill>
                <a:latin typeface="Calibri" pitchFamily="34" charset="0"/>
                <a:ea typeface="Calibri" pitchFamily="34" charset="-122"/>
                <a:cs typeface="Calibri" pitchFamily="34" charset="-120"/>
              </a:rPr>
              <a:t>STACK</a:t>
            </a:r>
            <a:endParaRPr lang="en-US" sz="1100" dirty="0"/>
          </a:p>
        </p:txBody>
      </p:sp>
      <p:sp>
        <p:nvSpPr>
          <p:cNvPr id="18" name="Text 16"/>
          <p:cNvSpPr/>
          <p:nvPr/>
        </p:nvSpPr>
        <p:spPr>
          <a:xfrm>
            <a:off x="8092440" y="2377440"/>
            <a:ext cx="3108960" cy="1097280"/>
          </a:xfrm>
          <a:prstGeom prst="rect">
            <a:avLst/>
          </a:prstGeom>
          <a:noFill/>
          <a:ln/>
        </p:spPr>
        <p:txBody>
          <a:bodyPr wrap="square" lIns="0" tIns="0" rIns="0" bIns="0" rtlCol="0" anchor="ctr"/>
          <a:lstStyle/>
          <a:p>
            <a:pPr indent="0" marL="0">
              <a:lnSpc>
                <a:spcPts val="1900"/>
              </a:lnSpc>
              <a:buNone/>
            </a:pPr>
            <a:r>
              <a:rPr lang="en-US" sz="1250" dirty="0">
                <a:solidFill>
                  <a:srgbClr val="16223B"/>
                </a:solidFill>
                <a:latin typeface="Calibri" pitchFamily="34" charset="0"/>
                <a:ea typeface="Calibri" pitchFamily="34" charset="-122"/>
                <a:cs typeface="Calibri" pitchFamily="34" charset="-120"/>
              </a:rPr>
              <a:t>Python · FastMCP · SQLite · pandas</a:t>
            </a:r>
            <a:endParaRPr lang="en-US" sz="1250" dirty="0"/>
          </a:p>
          <a:p>
            <a:pPr indent="0" marL="0">
              <a:lnSpc>
                <a:spcPts val="1900"/>
              </a:lnSpc>
              <a:buNone/>
            </a:pPr>
            <a:r>
              <a:rPr lang="en-US" sz="1250" dirty="0">
                <a:solidFill>
                  <a:srgbClr val="16223B"/>
                </a:solidFill>
                <a:latin typeface="Calibri" pitchFamily="34" charset="0"/>
                <a:ea typeface="Calibri" pitchFamily="34" charset="-122"/>
                <a:cs typeface="Calibri" pitchFamily="34" charset="-120"/>
              </a:rPr>
              <a:t>Tavily for evidence retrieval</a:t>
            </a:r>
            <a:endParaRPr lang="en-US" sz="1250" dirty="0"/>
          </a:p>
          <a:p>
            <a:pPr indent="0" marL="0">
              <a:lnSpc>
                <a:spcPts val="1900"/>
              </a:lnSpc>
              <a:buNone/>
            </a:pPr>
            <a:r>
              <a:rPr lang="en-US" sz="1250" dirty="0">
                <a:solidFill>
                  <a:srgbClr val="16223B"/>
                </a:solidFill>
                <a:latin typeface="Calibri" pitchFamily="34" charset="0"/>
                <a:ea typeface="Calibri" pitchFamily="34" charset="-122"/>
                <a:cs typeface="Calibri" pitchFamily="34" charset="-120"/>
              </a:rPr>
              <a:t>Zerodha Kite Connect as the live system of record</a:t>
            </a:r>
            <a:endParaRPr lang="en-US" sz="1250" dirty="0"/>
          </a:p>
        </p:txBody>
      </p:sp>
      <p:sp>
        <p:nvSpPr>
          <p:cNvPr id="19" name="Text 17"/>
          <p:cNvSpPr/>
          <p:nvPr/>
        </p:nvSpPr>
        <p:spPr>
          <a:xfrm>
            <a:off x="8092440" y="3611880"/>
            <a:ext cx="3108960" cy="68580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Model-agnostic: any MCP client. Runs with zero credentials on free public data.</a:t>
            </a:r>
            <a:endParaRPr lang="en-US" sz="1200" dirty="0"/>
          </a:p>
        </p:txBody>
      </p:sp>
      <p:sp>
        <p:nvSpPr>
          <p:cNvPr id="20" name="Text 18"/>
          <p:cNvSpPr/>
          <p:nvPr/>
        </p:nvSpPr>
        <p:spPr>
          <a:xfrm>
            <a:off x="640080" y="4663440"/>
            <a:ext cx="5486400" cy="274320"/>
          </a:xfrm>
          <a:prstGeom prst="rect">
            <a:avLst/>
          </a:prstGeom>
          <a:noFill/>
          <a:ln/>
        </p:spPr>
        <p:txBody>
          <a:bodyPr wrap="square" lIns="0" tIns="0" rIns="0" bIns="0" rtlCol="0" anchor="ctr"/>
          <a:lstStyle/>
          <a:p>
            <a:pPr indent="0" marL="0">
              <a:buNone/>
            </a:pPr>
            <a:r>
              <a:rPr lang="en-US" sz="1100" b="1" spc="200" kern="0" dirty="0">
                <a:solidFill>
                  <a:srgbClr val="5A6B87"/>
                </a:solidFill>
                <a:latin typeface="Calibri" pitchFamily="34" charset="0"/>
                <a:ea typeface="Calibri" pitchFamily="34" charset="-122"/>
                <a:cs typeface="Calibri" pitchFamily="34" charset="-120"/>
              </a:rPr>
              <a:t>NEXT - PROTOTYPE ROUND</a:t>
            </a:r>
            <a:endParaRPr lang="en-US" sz="1100" dirty="0"/>
          </a:p>
        </p:txBody>
      </p:sp>
      <p:sp>
        <p:nvSpPr>
          <p:cNvPr id="21" name="Text 19"/>
          <p:cNvSpPr/>
          <p:nvPr/>
        </p:nvSpPr>
        <p:spPr>
          <a:xfrm>
            <a:off x="640080" y="5029200"/>
            <a:ext cx="3383280" cy="274320"/>
          </a:xfrm>
          <a:prstGeom prst="rect">
            <a:avLst/>
          </a:prstGeom>
          <a:noFill/>
          <a:ln/>
        </p:spPr>
        <p:txBody>
          <a:bodyPr wrap="square" lIns="0" tIns="0" rIns="0" bIns="0" rtlCol="0" anchor="ctr"/>
          <a:lstStyle/>
          <a:p>
            <a:pPr indent="0" marL="0">
              <a:buNone/>
            </a:pPr>
            <a:r>
              <a:rPr lang="en-US" sz="1500" b="1" dirty="0">
                <a:solidFill>
                  <a:srgbClr val="16223B"/>
                </a:solidFill>
                <a:latin typeface="Cambria" pitchFamily="34" charset="0"/>
                <a:ea typeface="Cambria" pitchFamily="34" charset="-122"/>
                <a:cs typeface="Cambria" pitchFamily="34" charset="-120"/>
              </a:rPr>
              <a:t>Second domain adapter</a:t>
            </a:r>
            <a:endParaRPr lang="en-US" sz="1500" dirty="0"/>
          </a:p>
        </p:txBody>
      </p:sp>
      <p:sp>
        <p:nvSpPr>
          <p:cNvPr id="22" name="Text 20"/>
          <p:cNvSpPr/>
          <p:nvPr/>
        </p:nvSpPr>
        <p:spPr>
          <a:xfrm>
            <a:off x="640080" y="534924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prove the layer on a card-servicing action schema</a:t>
            </a:r>
            <a:endParaRPr lang="en-US" sz="1200" dirty="0"/>
          </a:p>
        </p:txBody>
      </p:sp>
      <p:sp>
        <p:nvSpPr>
          <p:cNvPr id="23" name="Text 21"/>
          <p:cNvSpPr/>
          <p:nvPr/>
        </p:nvSpPr>
        <p:spPr>
          <a:xfrm>
            <a:off x="4389120" y="5029200"/>
            <a:ext cx="3383280" cy="274320"/>
          </a:xfrm>
          <a:prstGeom prst="rect">
            <a:avLst/>
          </a:prstGeom>
          <a:noFill/>
          <a:ln/>
        </p:spPr>
        <p:txBody>
          <a:bodyPr wrap="square" lIns="0" tIns="0" rIns="0" bIns="0" rtlCol="0" anchor="ctr"/>
          <a:lstStyle/>
          <a:p>
            <a:pPr indent="0" marL="0">
              <a:buNone/>
            </a:pPr>
            <a:r>
              <a:rPr lang="en-US" sz="1500" b="1" dirty="0">
                <a:solidFill>
                  <a:srgbClr val="16223B"/>
                </a:solidFill>
                <a:latin typeface="Cambria" pitchFamily="34" charset="0"/>
                <a:ea typeface="Cambria" pitchFamily="34" charset="-122"/>
                <a:cs typeface="Cambria" pitchFamily="34" charset="-120"/>
              </a:rPr>
              <a:t>Reviewer console</a:t>
            </a:r>
            <a:endParaRPr lang="en-US" sz="1500" dirty="0"/>
          </a:p>
        </p:txBody>
      </p:sp>
      <p:sp>
        <p:nvSpPr>
          <p:cNvPr id="24" name="Text 22"/>
          <p:cNvSpPr/>
          <p:nvPr/>
        </p:nvSpPr>
        <p:spPr>
          <a:xfrm>
            <a:off x="4389120" y="534924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per-decision attribution and hit-rate reporting for risk teams</a:t>
            </a:r>
            <a:endParaRPr lang="en-US" sz="1200" dirty="0"/>
          </a:p>
        </p:txBody>
      </p:sp>
      <p:sp>
        <p:nvSpPr>
          <p:cNvPr id="25" name="Text 23"/>
          <p:cNvSpPr/>
          <p:nvPr/>
        </p:nvSpPr>
        <p:spPr>
          <a:xfrm>
            <a:off x="8138160" y="5029200"/>
            <a:ext cx="3383280" cy="274320"/>
          </a:xfrm>
          <a:prstGeom prst="rect">
            <a:avLst/>
          </a:prstGeom>
          <a:noFill/>
          <a:ln/>
        </p:spPr>
        <p:txBody>
          <a:bodyPr wrap="square" lIns="0" tIns="0" rIns="0" bIns="0" rtlCol="0" anchor="ctr"/>
          <a:lstStyle/>
          <a:p>
            <a:pPr indent="0" marL="0">
              <a:buNone/>
            </a:pPr>
            <a:r>
              <a:rPr lang="en-US" sz="1500" b="1" dirty="0">
                <a:solidFill>
                  <a:srgbClr val="16223B"/>
                </a:solidFill>
                <a:latin typeface="Cambria" pitchFamily="34" charset="0"/>
                <a:ea typeface="Cambria" pitchFamily="34" charset="-122"/>
                <a:cs typeface="Cambria" pitchFamily="34" charset="-120"/>
              </a:rPr>
              <a:t>Structured evidence tagging</a:t>
            </a:r>
            <a:endParaRPr lang="en-US" sz="1500" dirty="0"/>
          </a:p>
        </p:txBody>
      </p:sp>
      <p:sp>
        <p:nvSpPr>
          <p:cNvPr id="26" name="Text 24"/>
          <p:cNvSpPr/>
          <p:nvPr/>
        </p:nvSpPr>
        <p:spPr>
          <a:xfrm>
            <a:off x="8138160" y="534924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so hypotheses are tested automatically, not by hand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1737360" y="3108960"/>
            <a:ext cx="5120640" cy="5120640"/>
          </a:xfrm>
          <a:prstGeom prst="ellipse">
            <a:avLst/>
          </a:prstGeom>
          <a:solidFill>
            <a:srgbClr val="1C2E52"/>
          </a:solidFill>
          <a:ln/>
        </p:spPr>
      </p:sp>
      <p:sp>
        <p:nvSpPr>
          <p:cNvPr id="3" name="Text 1"/>
          <p:cNvSpPr/>
          <p:nvPr/>
        </p:nvSpPr>
        <p:spPr>
          <a:xfrm>
            <a:off x="640080" y="1737360"/>
            <a:ext cx="10515600" cy="1554480"/>
          </a:xfrm>
          <a:prstGeom prst="rect">
            <a:avLst/>
          </a:prstGeom>
          <a:noFill/>
          <a:ln/>
        </p:spPr>
        <p:txBody>
          <a:bodyPr wrap="square" lIns="0" tIns="0" rIns="0" bIns="0" rtlCol="0" anchor="ctr"/>
          <a:lstStyle/>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The bottleneck for financial agents</a:t>
            </a:r>
            <a:endParaRPr lang="en-US" sz="3600" dirty="0"/>
          </a:p>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is not capability. It is trust.</a:t>
            </a:r>
            <a:endParaRPr lang="en-US" sz="3600" dirty="0"/>
          </a:p>
        </p:txBody>
      </p:sp>
      <p:sp>
        <p:nvSpPr>
          <p:cNvPr id="4" name="Text 2"/>
          <p:cNvSpPr/>
          <p:nvPr/>
        </p:nvSpPr>
        <p:spPr>
          <a:xfrm>
            <a:off x="640080" y="3474720"/>
            <a:ext cx="9601200" cy="822960"/>
          </a:xfrm>
          <a:prstGeom prst="rect">
            <a:avLst/>
          </a:prstGeom>
          <a:noFill/>
          <a:ln/>
        </p:spPr>
        <p:txBody>
          <a:bodyPr wrap="square" lIns="0" tIns="0" rIns="0" bIns="0" rtlCol="0" anchor="ctr"/>
          <a:lstStyle/>
          <a:p>
            <a:pPr indent="0" marL="0">
              <a:lnSpc>
                <a:spcPts val="2600"/>
              </a:lnSpc>
              <a:buNone/>
            </a:pPr>
            <a:r>
              <a:rPr lang="en-US" sz="1600" dirty="0">
                <a:solidFill>
                  <a:srgbClr val="AFC3E0"/>
                </a:solidFill>
                <a:latin typeface="Calibri" pitchFamily="34" charset="0"/>
                <a:ea typeface="Calibri" pitchFamily="34" charset="-122"/>
                <a:cs typeface="Calibri" pitchFamily="34" charset="-120"/>
              </a:rPr>
              <a:t>finLM makes an agent's authority enforceable, its reasoning auditable, and its judgment measurable - so a financial institution can actually deploy one.</a:t>
            </a:r>
            <a:endParaRPr lang="en-US" sz="1600" dirty="0"/>
          </a:p>
        </p:txBody>
      </p:sp>
      <p:sp>
        <p:nvSpPr>
          <p:cNvPr id="5" name="Shape 3"/>
          <p:cNvSpPr/>
          <p:nvPr/>
        </p:nvSpPr>
        <p:spPr>
          <a:xfrm>
            <a:off x="640080" y="4572000"/>
            <a:ext cx="2606040" cy="548640"/>
          </a:xfrm>
          <a:prstGeom prst="roundRect">
            <a:avLst>
              <a:gd name="adj" fmla="val 50000"/>
            </a:avLst>
          </a:prstGeom>
          <a:solidFill>
            <a:srgbClr val="1C2E52"/>
          </a:solidFill>
          <a:ln/>
        </p:spPr>
      </p:sp>
      <p:sp>
        <p:nvSpPr>
          <p:cNvPr id="6" name="Text 4"/>
          <p:cNvSpPr/>
          <p:nvPr/>
        </p:nvSpPr>
        <p:spPr>
          <a:xfrm>
            <a:off x="64008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Mandate that fails closed</a:t>
            </a:r>
            <a:endParaRPr lang="en-US" sz="1200" dirty="0"/>
          </a:p>
        </p:txBody>
      </p:sp>
      <p:sp>
        <p:nvSpPr>
          <p:cNvPr id="7" name="Shape 5"/>
          <p:cNvSpPr/>
          <p:nvPr/>
        </p:nvSpPr>
        <p:spPr>
          <a:xfrm>
            <a:off x="3429000" y="4572000"/>
            <a:ext cx="2606040" cy="548640"/>
          </a:xfrm>
          <a:prstGeom prst="roundRect">
            <a:avLst>
              <a:gd name="adj" fmla="val 50000"/>
            </a:avLst>
          </a:prstGeom>
          <a:solidFill>
            <a:srgbClr val="1C2E52"/>
          </a:solidFill>
          <a:ln/>
        </p:spPr>
      </p:sp>
      <p:sp>
        <p:nvSpPr>
          <p:cNvPr id="8" name="Text 6"/>
          <p:cNvSpPr/>
          <p:nvPr/>
        </p:nvSpPr>
        <p:spPr>
          <a:xfrm>
            <a:off x="342900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Instant kill switch</a:t>
            </a:r>
            <a:endParaRPr lang="en-US" sz="1200" dirty="0"/>
          </a:p>
        </p:txBody>
      </p:sp>
      <p:sp>
        <p:nvSpPr>
          <p:cNvPr id="9" name="Shape 7"/>
          <p:cNvSpPr/>
          <p:nvPr/>
        </p:nvSpPr>
        <p:spPr>
          <a:xfrm>
            <a:off x="6217920" y="4572000"/>
            <a:ext cx="2606040" cy="548640"/>
          </a:xfrm>
          <a:prstGeom prst="roundRect">
            <a:avLst>
              <a:gd name="adj" fmla="val 50000"/>
            </a:avLst>
          </a:prstGeom>
          <a:solidFill>
            <a:srgbClr val="1C2E52"/>
          </a:solidFill>
          <a:ln/>
        </p:spPr>
      </p:sp>
      <p:sp>
        <p:nvSpPr>
          <p:cNvPr id="10" name="Text 8"/>
          <p:cNvSpPr/>
          <p:nvPr/>
        </p:nvSpPr>
        <p:spPr>
          <a:xfrm>
            <a:off x="621792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Reasoning audit trail</a:t>
            </a:r>
            <a:endParaRPr lang="en-US" sz="1200" dirty="0"/>
          </a:p>
        </p:txBody>
      </p:sp>
      <p:sp>
        <p:nvSpPr>
          <p:cNvPr id="11" name="Shape 9"/>
          <p:cNvSpPr/>
          <p:nvPr/>
        </p:nvSpPr>
        <p:spPr>
          <a:xfrm>
            <a:off x="9006840" y="4572000"/>
            <a:ext cx="2606040" cy="548640"/>
          </a:xfrm>
          <a:prstGeom prst="roundRect">
            <a:avLst>
              <a:gd name="adj" fmla="val 50000"/>
            </a:avLst>
          </a:prstGeom>
          <a:solidFill>
            <a:srgbClr val="1C2E52"/>
          </a:solidFill>
          <a:ln/>
        </p:spPr>
      </p:sp>
      <p:sp>
        <p:nvSpPr>
          <p:cNvPr id="12" name="Text 10"/>
          <p:cNvSpPr/>
          <p:nvPr/>
        </p:nvSpPr>
        <p:spPr>
          <a:xfrm>
            <a:off x="900684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Outcome scoring</a:t>
            </a:r>
            <a:endParaRPr lang="en-US" sz="1200" dirty="0"/>
          </a:p>
        </p:txBody>
      </p:sp>
      <p:sp>
        <p:nvSpPr>
          <p:cNvPr id="13" name="Text 11"/>
          <p:cNvSpPr/>
          <p:nvPr/>
        </p:nvSpPr>
        <p:spPr>
          <a:xfrm>
            <a:off x="640080" y="576072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finLM  ·  Hasil  ·  github.com/hasil7677/finLLM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finLM - Governance Layer for Financial Agents</dc:title>
  <dc:subject>PptxGenJS Presentation</dc:subject>
  <dc:creator>Hasil</dc:creator>
  <cp:lastModifiedBy>Hasil</cp:lastModifiedBy>
  <cp:revision>1</cp:revision>
  <dcterms:created xsi:type="dcterms:W3CDTF">2026-08-09T18:50:14Z</dcterms:created>
  <dcterms:modified xsi:type="dcterms:W3CDTF">2026-08-09T18:50:14Z</dcterms:modified>
</cp:coreProperties>
</file>